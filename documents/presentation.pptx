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 id="2147483690" r:id="rId2"/>
  </p:sldMasterIdLst>
  <p:sldIdLst>
    <p:sldId id="256" r:id="rId3"/>
    <p:sldId id="257" r:id="rId4"/>
    <p:sldId id="258" r:id="rId5"/>
    <p:sldId id="268" r:id="rId6"/>
    <p:sldId id="259" r:id="rId7"/>
    <p:sldId id="270" r:id="rId8"/>
    <p:sldId id="269" r:id="rId9"/>
    <p:sldId id="260" r:id="rId10"/>
    <p:sldId id="262" r:id="rId11"/>
    <p:sldId id="261" r:id="rId12"/>
    <p:sldId id="271" r:id="rId13"/>
    <p:sldId id="272" r:id="rId14"/>
    <p:sldId id="266" r:id="rId15"/>
    <p:sldId id="274" r:id="rId16"/>
    <p:sldId id="267" r:id="rId17"/>
    <p:sldId id="263" r:id="rId18"/>
    <p:sldId id="273" r:id="rId19"/>
    <p:sldId id="275" r:id="rId20"/>
    <p:sldId id="276" r:id="rId21"/>
    <p:sldId id="26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157" autoAdjust="0"/>
    <p:restoredTop sz="94660"/>
  </p:normalViewPr>
  <p:slideViewPr>
    <p:cSldViewPr snapToGrid="0">
      <p:cViewPr varScale="1">
        <p:scale>
          <a:sx n="91" d="100"/>
          <a:sy n="91" d="100"/>
        </p:scale>
        <p:origin x="892"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94920-167E-74E7-1C6A-60679031DC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9ED97E-E49A-FE8C-9C9B-4668479C26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D4EE0D5-7009-9D83-729C-1215D5FDF36D}"/>
              </a:ext>
            </a:extLst>
          </p:cNvPr>
          <p:cNvSpPr>
            <a:spLocks noGrp="1"/>
          </p:cNvSpPr>
          <p:nvPr>
            <p:ph type="dt" sz="half" idx="10"/>
          </p:nvPr>
        </p:nvSpPr>
        <p:spPr/>
        <p:txBody>
          <a:bodyPr/>
          <a:lstStyle/>
          <a:p>
            <a:fld id="{A7FACB4A-C46D-47C8-95BF-463F9F428625}" type="datetimeFigureOut">
              <a:rPr lang="en-IN" smtClean="0"/>
              <a:t>20-11-2025</a:t>
            </a:fld>
            <a:endParaRPr lang="en-IN"/>
          </a:p>
        </p:txBody>
      </p:sp>
      <p:sp>
        <p:nvSpPr>
          <p:cNvPr id="5" name="Footer Placeholder 4">
            <a:extLst>
              <a:ext uri="{FF2B5EF4-FFF2-40B4-BE49-F238E27FC236}">
                <a16:creationId xmlns:a16="http://schemas.microsoft.com/office/drawing/2014/main" id="{F558A44B-3668-87A2-1E2A-93F6F2BC35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0530A3-0A4C-D8BB-B85C-11CF3F019E25}"/>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532492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B4DAF-D0A5-FE5C-7D4D-B2BF25F8B05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159AC4B-D0DA-E49A-C893-84B4B34B619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FBACC6-68D9-523B-D4FF-4500CA6FFC02}"/>
              </a:ext>
            </a:extLst>
          </p:cNvPr>
          <p:cNvSpPr>
            <a:spLocks noGrp="1"/>
          </p:cNvSpPr>
          <p:nvPr>
            <p:ph type="dt" sz="half" idx="10"/>
          </p:nvPr>
        </p:nvSpPr>
        <p:spPr/>
        <p:txBody>
          <a:bodyPr/>
          <a:lstStyle/>
          <a:p>
            <a:fld id="{A7FACB4A-C46D-47C8-95BF-463F9F428625}" type="datetimeFigureOut">
              <a:rPr lang="en-IN" smtClean="0"/>
              <a:t>20-11-2025</a:t>
            </a:fld>
            <a:endParaRPr lang="en-IN"/>
          </a:p>
        </p:txBody>
      </p:sp>
      <p:sp>
        <p:nvSpPr>
          <p:cNvPr id="5" name="Footer Placeholder 4">
            <a:extLst>
              <a:ext uri="{FF2B5EF4-FFF2-40B4-BE49-F238E27FC236}">
                <a16:creationId xmlns:a16="http://schemas.microsoft.com/office/drawing/2014/main" id="{6824C9E9-864C-5A0A-4EBE-01CA7C47CF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A08515-6C91-6E70-5BCD-B2144185E5E7}"/>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578828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0ED75-F5B2-0C5D-CC3D-F8AC893C5E6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29EAB75-9B02-F05A-D831-467F4E28169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0A55BD0-E981-92F6-D5FB-ABD6D7BDB8D0}"/>
              </a:ext>
            </a:extLst>
          </p:cNvPr>
          <p:cNvSpPr>
            <a:spLocks noGrp="1"/>
          </p:cNvSpPr>
          <p:nvPr>
            <p:ph type="dt" sz="half" idx="10"/>
          </p:nvPr>
        </p:nvSpPr>
        <p:spPr/>
        <p:txBody>
          <a:bodyPr/>
          <a:lstStyle/>
          <a:p>
            <a:fld id="{A7FACB4A-C46D-47C8-95BF-463F9F428625}" type="datetimeFigureOut">
              <a:rPr lang="en-IN" smtClean="0"/>
              <a:t>20-11-2025</a:t>
            </a:fld>
            <a:endParaRPr lang="en-IN"/>
          </a:p>
        </p:txBody>
      </p:sp>
      <p:sp>
        <p:nvSpPr>
          <p:cNvPr id="5" name="Footer Placeholder 4">
            <a:extLst>
              <a:ext uri="{FF2B5EF4-FFF2-40B4-BE49-F238E27FC236}">
                <a16:creationId xmlns:a16="http://schemas.microsoft.com/office/drawing/2014/main" id="{93A990AA-A035-B6B1-08EA-D9DE69855C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59E76C-1C01-7ABB-4389-6BD8550E3213}"/>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4168551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C783B-A3F5-D61E-166E-809C64289B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69EA29C-0373-1D6F-18F7-B4C0DD2E0D6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3360F35-8053-FE1C-7FA0-B0662895FB6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6363E1E-521F-52C5-C54F-0DCD2D85FB76}"/>
              </a:ext>
            </a:extLst>
          </p:cNvPr>
          <p:cNvSpPr>
            <a:spLocks noGrp="1"/>
          </p:cNvSpPr>
          <p:nvPr>
            <p:ph type="dt" sz="half" idx="10"/>
          </p:nvPr>
        </p:nvSpPr>
        <p:spPr/>
        <p:txBody>
          <a:bodyPr/>
          <a:lstStyle/>
          <a:p>
            <a:fld id="{A7FACB4A-C46D-47C8-95BF-463F9F428625}" type="datetimeFigureOut">
              <a:rPr lang="en-IN" smtClean="0"/>
              <a:t>20-11-2025</a:t>
            </a:fld>
            <a:endParaRPr lang="en-IN"/>
          </a:p>
        </p:txBody>
      </p:sp>
      <p:sp>
        <p:nvSpPr>
          <p:cNvPr id="6" name="Footer Placeholder 5">
            <a:extLst>
              <a:ext uri="{FF2B5EF4-FFF2-40B4-BE49-F238E27FC236}">
                <a16:creationId xmlns:a16="http://schemas.microsoft.com/office/drawing/2014/main" id="{E49AC688-C37C-FD0C-471A-021AB7F0FDF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A278622-D112-E23D-7ADA-FC8313224A7E}"/>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5308527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D3E25-AEF9-4D62-F336-3CD89599FF1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FD51395-7058-30BC-ADA1-BC45CB0371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10F502-884B-3B62-8417-DACCD1ED780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223E2DA-0EE1-0C34-E203-8A4EAE065F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DE18A5-9DF6-FD1B-81F6-1C240861E3E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F9B97AA-A822-E8E2-36BC-A00BBD0DE983}"/>
              </a:ext>
            </a:extLst>
          </p:cNvPr>
          <p:cNvSpPr>
            <a:spLocks noGrp="1"/>
          </p:cNvSpPr>
          <p:nvPr>
            <p:ph type="dt" sz="half" idx="10"/>
          </p:nvPr>
        </p:nvSpPr>
        <p:spPr/>
        <p:txBody>
          <a:bodyPr/>
          <a:lstStyle/>
          <a:p>
            <a:fld id="{A7FACB4A-C46D-47C8-95BF-463F9F428625}" type="datetimeFigureOut">
              <a:rPr lang="en-IN" smtClean="0"/>
              <a:t>20-11-2025</a:t>
            </a:fld>
            <a:endParaRPr lang="en-IN"/>
          </a:p>
        </p:txBody>
      </p:sp>
      <p:sp>
        <p:nvSpPr>
          <p:cNvPr id="8" name="Footer Placeholder 7">
            <a:extLst>
              <a:ext uri="{FF2B5EF4-FFF2-40B4-BE49-F238E27FC236}">
                <a16:creationId xmlns:a16="http://schemas.microsoft.com/office/drawing/2014/main" id="{188915EE-5A5B-E7AD-D61F-2025CF59D5D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5B28030-03CF-B38E-938A-0223BD8379F0}"/>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365561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FF513-2C8D-8DF8-556D-49B27C1F9CD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C095B5C-9D0F-DA50-9060-D3313BA15AAC}"/>
              </a:ext>
            </a:extLst>
          </p:cNvPr>
          <p:cNvSpPr>
            <a:spLocks noGrp="1"/>
          </p:cNvSpPr>
          <p:nvPr>
            <p:ph type="dt" sz="half" idx="10"/>
          </p:nvPr>
        </p:nvSpPr>
        <p:spPr/>
        <p:txBody>
          <a:bodyPr/>
          <a:lstStyle/>
          <a:p>
            <a:fld id="{A7FACB4A-C46D-47C8-95BF-463F9F428625}" type="datetimeFigureOut">
              <a:rPr lang="en-IN" smtClean="0"/>
              <a:t>20-11-2025</a:t>
            </a:fld>
            <a:endParaRPr lang="en-IN"/>
          </a:p>
        </p:txBody>
      </p:sp>
      <p:sp>
        <p:nvSpPr>
          <p:cNvPr id="4" name="Footer Placeholder 3">
            <a:extLst>
              <a:ext uri="{FF2B5EF4-FFF2-40B4-BE49-F238E27FC236}">
                <a16:creationId xmlns:a16="http://schemas.microsoft.com/office/drawing/2014/main" id="{FC300BE6-7392-45BF-718A-5D59B1E7048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0869BB7-3BDB-FD69-B861-5BC03BD503FF}"/>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39853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4E5682-B921-AD51-618D-D9B8C83EEE4C}"/>
              </a:ext>
            </a:extLst>
          </p:cNvPr>
          <p:cNvSpPr>
            <a:spLocks noGrp="1"/>
          </p:cNvSpPr>
          <p:nvPr>
            <p:ph type="dt" sz="half" idx="10"/>
          </p:nvPr>
        </p:nvSpPr>
        <p:spPr/>
        <p:txBody>
          <a:bodyPr/>
          <a:lstStyle/>
          <a:p>
            <a:fld id="{A7FACB4A-C46D-47C8-95BF-463F9F428625}" type="datetimeFigureOut">
              <a:rPr lang="en-IN" smtClean="0"/>
              <a:t>20-11-2025</a:t>
            </a:fld>
            <a:endParaRPr lang="en-IN"/>
          </a:p>
        </p:txBody>
      </p:sp>
      <p:sp>
        <p:nvSpPr>
          <p:cNvPr id="3" name="Footer Placeholder 2">
            <a:extLst>
              <a:ext uri="{FF2B5EF4-FFF2-40B4-BE49-F238E27FC236}">
                <a16:creationId xmlns:a16="http://schemas.microsoft.com/office/drawing/2014/main" id="{F6FB2640-1ADB-9543-1615-52E7F4D9F58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C830936-28EC-CAE9-0DED-6C29CA78C5C7}"/>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723204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4C092-5144-840E-AC06-C34C5F6894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FB63C88-CD49-FF42-783B-02F317A9DC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14B8A54-B0DF-2170-5E5B-D74D735EC0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231B2D-AE33-7F92-7723-DBD32F0EC5D2}"/>
              </a:ext>
            </a:extLst>
          </p:cNvPr>
          <p:cNvSpPr>
            <a:spLocks noGrp="1"/>
          </p:cNvSpPr>
          <p:nvPr>
            <p:ph type="dt" sz="half" idx="10"/>
          </p:nvPr>
        </p:nvSpPr>
        <p:spPr/>
        <p:txBody>
          <a:bodyPr/>
          <a:lstStyle/>
          <a:p>
            <a:fld id="{A7FACB4A-C46D-47C8-95BF-463F9F428625}" type="datetimeFigureOut">
              <a:rPr lang="en-IN" smtClean="0"/>
              <a:t>20-11-2025</a:t>
            </a:fld>
            <a:endParaRPr lang="en-IN"/>
          </a:p>
        </p:txBody>
      </p:sp>
      <p:sp>
        <p:nvSpPr>
          <p:cNvPr id="6" name="Footer Placeholder 5">
            <a:extLst>
              <a:ext uri="{FF2B5EF4-FFF2-40B4-BE49-F238E27FC236}">
                <a16:creationId xmlns:a16="http://schemas.microsoft.com/office/drawing/2014/main" id="{F2AAC85D-56BD-08F5-DEF4-F5F158551D4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951A664-3427-0A37-596B-7D42266729F1}"/>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2731908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B55B3-79A6-E35D-CE5E-D0BC3667A8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1D5BF53-199C-A23E-BD59-0F75C0BCB9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2DF07CF-FEDF-1D9E-00C3-12A5761A76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3C44A4-F4C9-7312-AE92-028335C08894}"/>
              </a:ext>
            </a:extLst>
          </p:cNvPr>
          <p:cNvSpPr>
            <a:spLocks noGrp="1"/>
          </p:cNvSpPr>
          <p:nvPr>
            <p:ph type="dt" sz="half" idx="10"/>
          </p:nvPr>
        </p:nvSpPr>
        <p:spPr/>
        <p:txBody>
          <a:bodyPr/>
          <a:lstStyle/>
          <a:p>
            <a:fld id="{A7FACB4A-C46D-47C8-95BF-463F9F428625}" type="datetimeFigureOut">
              <a:rPr lang="en-IN" smtClean="0"/>
              <a:t>20-11-2025</a:t>
            </a:fld>
            <a:endParaRPr lang="en-IN"/>
          </a:p>
        </p:txBody>
      </p:sp>
      <p:sp>
        <p:nvSpPr>
          <p:cNvPr id="6" name="Footer Placeholder 5">
            <a:extLst>
              <a:ext uri="{FF2B5EF4-FFF2-40B4-BE49-F238E27FC236}">
                <a16:creationId xmlns:a16="http://schemas.microsoft.com/office/drawing/2014/main" id="{F0ECC929-253B-D72A-E0DC-EB1D517027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AA7FA4D-41E4-6FD9-CA1D-2DE23079D556}"/>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968063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9FE58-1DBE-BFD2-1D27-0144EA61F58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A23DCBD-8A39-9B9D-6B6E-D23201EF3DB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67BB47-FE93-48EE-1797-BB0C3A52AB87}"/>
              </a:ext>
            </a:extLst>
          </p:cNvPr>
          <p:cNvSpPr>
            <a:spLocks noGrp="1"/>
          </p:cNvSpPr>
          <p:nvPr>
            <p:ph type="dt" sz="half" idx="10"/>
          </p:nvPr>
        </p:nvSpPr>
        <p:spPr/>
        <p:txBody>
          <a:bodyPr/>
          <a:lstStyle/>
          <a:p>
            <a:fld id="{A7FACB4A-C46D-47C8-95BF-463F9F428625}" type="datetimeFigureOut">
              <a:rPr lang="en-IN" smtClean="0"/>
              <a:t>20-11-2025</a:t>
            </a:fld>
            <a:endParaRPr lang="en-IN"/>
          </a:p>
        </p:txBody>
      </p:sp>
      <p:sp>
        <p:nvSpPr>
          <p:cNvPr id="5" name="Footer Placeholder 4">
            <a:extLst>
              <a:ext uri="{FF2B5EF4-FFF2-40B4-BE49-F238E27FC236}">
                <a16:creationId xmlns:a16="http://schemas.microsoft.com/office/drawing/2014/main" id="{3BB2DEB4-33E2-296F-5DCC-E29BC8BE8D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F187C6-704B-F685-3F93-989F3DA405D6}"/>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9902605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AE6C29-4E42-2318-8945-2615A97BC9D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B8A438A-1E26-D6DA-24B8-D91D79AA47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98685-4448-B731-3033-96B04CCD649B}"/>
              </a:ext>
            </a:extLst>
          </p:cNvPr>
          <p:cNvSpPr>
            <a:spLocks noGrp="1"/>
          </p:cNvSpPr>
          <p:nvPr>
            <p:ph type="dt" sz="half" idx="10"/>
          </p:nvPr>
        </p:nvSpPr>
        <p:spPr/>
        <p:txBody>
          <a:bodyPr/>
          <a:lstStyle/>
          <a:p>
            <a:fld id="{A7FACB4A-C46D-47C8-95BF-463F9F428625}" type="datetimeFigureOut">
              <a:rPr lang="en-IN" smtClean="0"/>
              <a:t>20-11-2025</a:t>
            </a:fld>
            <a:endParaRPr lang="en-IN"/>
          </a:p>
        </p:txBody>
      </p:sp>
      <p:sp>
        <p:nvSpPr>
          <p:cNvPr id="5" name="Footer Placeholder 4">
            <a:extLst>
              <a:ext uri="{FF2B5EF4-FFF2-40B4-BE49-F238E27FC236}">
                <a16:creationId xmlns:a16="http://schemas.microsoft.com/office/drawing/2014/main" id="{728E9F2B-3DC4-7F24-9A61-2F0F4077A1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C967B1-A473-3E52-7767-281AB2A81D02}"/>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7784131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7FACB4A-C46D-47C8-95BF-463F9F428625}"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42880584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FACB4A-C46D-47C8-95BF-463F9F428625}"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7103401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FACB4A-C46D-47C8-95BF-463F9F428625}"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087707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7FACB4A-C46D-47C8-95BF-463F9F428625}" type="datetimeFigureOut">
              <a:rPr lang="en-IN" smtClean="0"/>
              <a:t>20-11-2025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4472853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7FACB4A-C46D-47C8-95BF-463F9F428625}" type="datetimeFigureOut">
              <a:rPr lang="en-IN" smtClean="0"/>
              <a:t>20-11-2025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1884135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7FACB4A-C46D-47C8-95BF-463F9F428625}" type="datetimeFigureOut">
              <a:rPr lang="en-IN" smtClean="0"/>
              <a:t>20-11-2025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2247188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FACB4A-C46D-47C8-95BF-463F9F428625}" type="datetimeFigureOut">
              <a:rPr lang="en-IN" smtClean="0"/>
              <a:t>20-11-2025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6037899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7FACB4A-C46D-47C8-95BF-463F9F428625}" type="datetimeFigureOut">
              <a:rPr lang="en-IN" smtClean="0"/>
              <a:t>20-11-2025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680219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7FACB4A-C46D-47C8-95BF-463F9F428625}" type="datetimeFigureOut">
              <a:rPr lang="en-IN" smtClean="0"/>
              <a:t>20-11-2025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5705669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7FACB4A-C46D-47C8-95BF-463F9F428625}" type="datetimeFigureOut">
              <a:rPr lang="en-IN" smtClean="0"/>
              <a:t>20-11-2025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73286688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7FACB4A-C46D-47C8-95BF-463F9F428625}" type="datetimeFigureOut">
              <a:rPr lang="en-IN" smtClean="0"/>
              <a:t>20-11-2025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5962545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7FACB4A-C46D-47C8-95BF-463F9F428625}" type="datetimeFigureOut">
              <a:rPr lang="en-IN" smtClean="0"/>
              <a:t>20-11-2025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2EA575-0560-4EBC-AD65-A546BB5C4677}" type="slidenum">
              <a:rPr lang="en-IN" smtClean="0"/>
              <a:t>‹#›</a:t>
            </a:fld>
            <a:endParaRPr lang="en-IN"/>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6207942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7FACB4A-C46D-47C8-95BF-463F9F428625}" type="datetimeFigureOut">
              <a:rPr lang="en-IN" smtClean="0"/>
              <a:t>20-11-2025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8967672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7FACB4A-C46D-47C8-95BF-463F9F428625}" type="datetimeFigureOut">
              <a:rPr lang="en-IN" smtClean="0"/>
              <a:t>20-11-2025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5676184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7FACB4A-C46D-47C8-95BF-463F9F428625}" type="datetimeFigureOut">
              <a:rPr lang="en-IN" smtClean="0"/>
              <a:t>20-11-2025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4823626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FACB4A-C46D-47C8-95BF-463F9F428625}"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90175332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FACB4A-C46D-47C8-95BF-463F9F428625}"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7670512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9DEBBA-A587-5B9C-1613-A9EAB2EB19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456A047-FCDB-10EA-DA13-78FA4455CB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B93C7B-0810-E987-1C73-8B80222A2E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FACB4A-C46D-47C8-95BF-463F9F428625}" type="datetimeFigureOut">
              <a:rPr lang="en-IN" smtClean="0"/>
              <a:t>20-11-2025</a:t>
            </a:fld>
            <a:endParaRPr lang="en-IN"/>
          </a:p>
        </p:txBody>
      </p:sp>
      <p:sp>
        <p:nvSpPr>
          <p:cNvPr id="5" name="Footer Placeholder 4">
            <a:extLst>
              <a:ext uri="{FF2B5EF4-FFF2-40B4-BE49-F238E27FC236}">
                <a16:creationId xmlns:a16="http://schemas.microsoft.com/office/drawing/2014/main" id="{447F1DB3-B17B-F2B5-C0DC-B1FFF93691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EB42FAB-1F58-330E-D159-CDEB521A9B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2EA575-0560-4EBC-AD65-A546BB5C4677}" type="slidenum">
              <a:rPr lang="en-IN" smtClean="0"/>
              <a:t>‹#›</a:t>
            </a:fld>
            <a:endParaRPr lang="en-IN"/>
          </a:p>
        </p:txBody>
      </p:sp>
    </p:spTree>
    <p:extLst>
      <p:ext uri="{BB962C8B-B14F-4D97-AF65-F5344CB8AC3E}">
        <p14:creationId xmlns:p14="http://schemas.microsoft.com/office/powerpoint/2010/main" val="82275713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A7FACB4A-C46D-47C8-95BF-463F9F428625}" type="datetimeFigureOut">
              <a:rPr lang="en-IN" smtClean="0"/>
              <a:t>20-11-2025</a:t>
            </a:fld>
            <a:endParaRPr lang="en-IN"/>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EB2EA575-0560-4EBC-AD65-A546BB5C4677}" type="slidenum">
              <a:rPr lang="en-IN" smtClean="0"/>
              <a:t>‹#›</a:t>
            </a:fld>
            <a:endParaRPr lang="en-IN"/>
          </a:p>
        </p:txBody>
      </p:sp>
    </p:spTree>
    <p:extLst>
      <p:ext uri="{BB962C8B-B14F-4D97-AF65-F5344CB8AC3E}">
        <p14:creationId xmlns:p14="http://schemas.microsoft.com/office/powerpoint/2010/main" val="3938663116"/>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3.xml"/><Relationship Id="rId5" Type="http://schemas.openxmlformats.org/officeDocument/2006/relationships/image" Target="../media/image8.sv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3.xml"/><Relationship Id="rId5" Type="http://schemas.openxmlformats.org/officeDocument/2006/relationships/image" Target="../media/image8.sv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3.xml"/><Relationship Id="rId5" Type="http://schemas.openxmlformats.org/officeDocument/2006/relationships/image" Target="../media/image8.sv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3.xml"/><Relationship Id="rId5" Type="http://schemas.openxmlformats.org/officeDocument/2006/relationships/image" Target="../media/image10.sv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3.xml"/><Relationship Id="rId5" Type="http://schemas.openxmlformats.org/officeDocument/2006/relationships/image" Target="../media/image14.sv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3.xml"/><Relationship Id="rId5" Type="http://schemas.openxmlformats.org/officeDocument/2006/relationships/image" Target="../media/image16.sv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hyperlink" Target="https://www.kaggle.com/datasets/xhlulu/140k-real-and-fake-faces" TargetMode="External"/><Relationship Id="rId2" Type="http://schemas.openxmlformats.org/officeDocument/2006/relationships/image" Target="../media/image1.jpeg"/><Relationship Id="rId1" Type="http://schemas.openxmlformats.org/officeDocument/2006/relationships/slideLayout" Target="../slideLayouts/slideLayout13.xml"/><Relationship Id="rId4" Type="http://schemas.openxmlformats.org/officeDocument/2006/relationships/hyperlink" Target="https://keras.io/"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FB14B-13FD-63D0-B558-FA2B9FA1B8F9}"/>
              </a:ext>
            </a:extLst>
          </p:cNvPr>
          <p:cNvSpPr>
            <a:spLocks noGrp="1"/>
          </p:cNvSpPr>
          <p:nvPr>
            <p:ph type="ctrTitle"/>
          </p:nvPr>
        </p:nvSpPr>
        <p:spPr>
          <a:xfrm>
            <a:off x="1524000" y="3282512"/>
            <a:ext cx="9144000" cy="978194"/>
          </a:xfrm>
        </p:spPr>
        <p:txBody>
          <a:bodyPr>
            <a:normAutofit fontScale="90000"/>
          </a:bodyPr>
          <a:lstStyle/>
          <a:p>
            <a:r>
              <a:rPr lang="en-IN" dirty="0"/>
              <a:t>Detection Of Deepfakes Using OpenCV</a:t>
            </a:r>
          </a:p>
        </p:txBody>
      </p:sp>
      <p:sp>
        <p:nvSpPr>
          <p:cNvPr id="3" name="Subtitle 2">
            <a:extLst>
              <a:ext uri="{FF2B5EF4-FFF2-40B4-BE49-F238E27FC236}">
                <a16:creationId xmlns:a16="http://schemas.microsoft.com/office/drawing/2014/main" id="{33DAA6DE-3B6C-1A2F-6135-52EEA7D16507}"/>
              </a:ext>
            </a:extLst>
          </p:cNvPr>
          <p:cNvSpPr>
            <a:spLocks noGrp="1"/>
          </p:cNvSpPr>
          <p:nvPr>
            <p:ph type="subTitle" idx="1"/>
          </p:nvPr>
        </p:nvSpPr>
        <p:spPr>
          <a:xfrm>
            <a:off x="1077411" y="4890977"/>
            <a:ext cx="3599291" cy="1222744"/>
          </a:xfrm>
        </p:spPr>
        <p:txBody>
          <a:bodyPr/>
          <a:lstStyle/>
          <a:p>
            <a:r>
              <a:rPr lang="en-IN" dirty="0"/>
              <a:t>Submitted By:</a:t>
            </a:r>
            <a:br>
              <a:rPr lang="en-IN" dirty="0"/>
            </a:br>
            <a:r>
              <a:rPr lang="en-IN" dirty="0"/>
              <a:t>Vidur Gupta</a:t>
            </a:r>
          </a:p>
          <a:p>
            <a:r>
              <a:rPr lang="en-IN" dirty="0"/>
              <a:t>23FE10CSE00481</a:t>
            </a:r>
          </a:p>
        </p:txBody>
      </p:sp>
      <p:sp>
        <p:nvSpPr>
          <p:cNvPr id="4" name="Subtitle 2">
            <a:extLst>
              <a:ext uri="{FF2B5EF4-FFF2-40B4-BE49-F238E27FC236}">
                <a16:creationId xmlns:a16="http://schemas.microsoft.com/office/drawing/2014/main" id="{8265C3A1-7DE8-FF2B-D7D7-6CB2859C63C2}"/>
              </a:ext>
            </a:extLst>
          </p:cNvPr>
          <p:cNvSpPr txBox="1">
            <a:spLocks/>
          </p:cNvSpPr>
          <p:nvPr/>
        </p:nvSpPr>
        <p:spPr>
          <a:xfrm>
            <a:off x="7245398" y="4883885"/>
            <a:ext cx="3869191" cy="122274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dirty="0"/>
              <a:t>Supervised By:</a:t>
            </a:r>
            <a:br>
              <a:rPr lang="en-IN" dirty="0"/>
            </a:br>
            <a:r>
              <a:rPr lang="en-IN" dirty="0"/>
              <a:t>Dr. Rishi Kumar Srivastava</a:t>
            </a:r>
          </a:p>
          <a:p>
            <a:endParaRPr lang="en-IN" dirty="0"/>
          </a:p>
          <a:p>
            <a:endParaRPr lang="en-IN" dirty="0"/>
          </a:p>
        </p:txBody>
      </p:sp>
      <p:pic>
        <p:nvPicPr>
          <p:cNvPr id="8" name="Picture 7" descr="A black and white text&#10;&#10;AI-generated content may be incorrect.">
            <a:extLst>
              <a:ext uri="{FF2B5EF4-FFF2-40B4-BE49-F238E27FC236}">
                <a16:creationId xmlns:a16="http://schemas.microsoft.com/office/drawing/2014/main" id="{2AD7126F-2B55-B457-37C9-C05FFDD4D2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56" y="36039"/>
            <a:ext cx="4174039" cy="1222745"/>
          </a:xfrm>
          <a:prstGeom prst="rect">
            <a:avLst/>
          </a:prstGeom>
        </p:spPr>
      </p:pic>
      <p:sp>
        <p:nvSpPr>
          <p:cNvPr id="9" name="Title 1">
            <a:extLst>
              <a:ext uri="{FF2B5EF4-FFF2-40B4-BE49-F238E27FC236}">
                <a16:creationId xmlns:a16="http://schemas.microsoft.com/office/drawing/2014/main" id="{B8466A34-BD34-5DB1-EC2B-14EE0BD5593C}"/>
              </a:ext>
            </a:extLst>
          </p:cNvPr>
          <p:cNvSpPr txBox="1">
            <a:spLocks/>
          </p:cNvSpPr>
          <p:nvPr/>
        </p:nvSpPr>
        <p:spPr>
          <a:xfrm>
            <a:off x="1527542" y="1258784"/>
            <a:ext cx="9144000" cy="1112276"/>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IN" sz="2800" b="1" dirty="0"/>
              <a:t>School of Computer Science and Engineering</a:t>
            </a:r>
          </a:p>
          <a:p>
            <a:pPr>
              <a:lnSpc>
                <a:spcPct val="150000"/>
              </a:lnSpc>
            </a:pPr>
            <a:r>
              <a:rPr lang="en-IN" sz="2800" b="1" dirty="0"/>
              <a:t>Department of Computer Science and Engineering</a:t>
            </a:r>
          </a:p>
        </p:txBody>
      </p:sp>
    </p:spTree>
    <p:extLst>
      <p:ext uri="{BB962C8B-B14F-4D97-AF65-F5344CB8AC3E}">
        <p14:creationId xmlns:p14="http://schemas.microsoft.com/office/powerpoint/2010/main" val="380237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C224410-FF86-4FBB-A05E-61232D4B1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Freeform: Shape 12">
            <a:extLst>
              <a:ext uri="{FF2B5EF4-FFF2-40B4-BE49-F238E27FC236}">
                <a16:creationId xmlns:a16="http://schemas.microsoft.com/office/drawing/2014/main" id="{F3BDD110-869E-4A8C-9250-C7AE5C840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02" y="-2"/>
            <a:ext cx="6088698" cy="6858002"/>
          </a:xfrm>
          <a:custGeom>
            <a:avLst/>
            <a:gdLst>
              <a:gd name="connsiteX0" fmla="*/ 0 w 6088698"/>
              <a:gd name="connsiteY0" fmla="*/ 0 h 6858002"/>
              <a:gd name="connsiteX1" fmla="*/ 2610464 w 6088698"/>
              <a:gd name="connsiteY1" fmla="*/ 0 h 6858002"/>
              <a:gd name="connsiteX2" fmla="*/ 2610464 w 6088698"/>
              <a:gd name="connsiteY2" fmla="*/ 3 h 6858002"/>
              <a:gd name="connsiteX3" fmla="*/ 5749313 w 6088698"/>
              <a:gd name="connsiteY3" fmla="*/ 3 h 6858002"/>
              <a:gd name="connsiteX4" fmla="*/ 5749313 w 6088698"/>
              <a:gd name="connsiteY4" fmla="*/ 4 h 6858002"/>
              <a:gd name="connsiteX5" fmla="*/ 5740011 w 6088698"/>
              <a:gd name="connsiteY5" fmla="*/ 4 h 6858002"/>
              <a:gd name="connsiteX6" fmla="*/ 5748114 w 6088698"/>
              <a:gd name="connsiteY6" fmla="*/ 40466 h 6858002"/>
              <a:gd name="connsiteX7" fmla="*/ 5771963 w 6088698"/>
              <a:gd name="connsiteY7" fmla="*/ 159110 h 6858002"/>
              <a:gd name="connsiteX8" fmla="*/ 5788633 w 6088698"/>
              <a:gd name="connsiteY8" fmla="*/ 245521 h 6858002"/>
              <a:gd name="connsiteX9" fmla="*/ 5806229 w 6088698"/>
              <a:gd name="connsiteY9" fmla="*/ 348391 h 6858002"/>
              <a:gd name="connsiteX10" fmla="*/ 5827299 w 6088698"/>
              <a:gd name="connsiteY10" fmla="*/ 470463 h 6858002"/>
              <a:gd name="connsiteX11" fmla="*/ 5849526 w 6088698"/>
              <a:gd name="connsiteY11" fmla="*/ 605566 h 6858002"/>
              <a:gd name="connsiteX12" fmla="*/ 5872911 w 6088698"/>
              <a:gd name="connsiteY12" fmla="*/ 757813 h 6858002"/>
              <a:gd name="connsiteX13" fmla="*/ 5897684 w 6088698"/>
              <a:gd name="connsiteY13" fmla="*/ 923777 h 6858002"/>
              <a:gd name="connsiteX14" fmla="*/ 5922459 w 6088698"/>
              <a:gd name="connsiteY14" fmla="*/ 1104142 h 6858002"/>
              <a:gd name="connsiteX15" fmla="*/ 5947695 w 6088698"/>
              <a:gd name="connsiteY15" fmla="*/ 1296166 h 6858002"/>
              <a:gd name="connsiteX16" fmla="*/ 5971079 w 6088698"/>
              <a:gd name="connsiteY16" fmla="*/ 1503278 h 6858002"/>
              <a:gd name="connsiteX17" fmla="*/ 5993538 w 6088698"/>
              <a:gd name="connsiteY17" fmla="*/ 1719991 h 6858002"/>
              <a:gd name="connsiteX18" fmla="*/ 6013913 w 6088698"/>
              <a:gd name="connsiteY18" fmla="*/ 1949048 h 6858002"/>
              <a:gd name="connsiteX19" fmla="*/ 6033361 w 6088698"/>
              <a:gd name="connsiteY19" fmla="*/ 2187706 h 6858002"/>
              <a:gd name="connsiteX20" fmla="*/ 6051654 w 6088698"/>
              <a:gd name="connsiteY20" fmla="*/ 2436652 h 6858002"/>
              <a:gd name="connsiteX21" fmla="*/ 6058136 w 6088698"/>
              <a:gd name="connsiteY21" fmla="*/ 2564211 h 6858002"/>
              <a:gd name="connsiteX22" fmla="*/ 6065314 w 6088698"/>
              <a:gd name="connsiteY22" fmla="*/ 2694512 h 6858002"/>
              <a:gd name="connsiteX23" fmla="*/ 6072027 w 6088698"/>
              <a:gd name="connsiteY23" fmla="*/ 2826871 h 6858002"/>
              <a:gd name="connsiteX24" fmla="*/ 6076427 w 6088698"/>
              <a:gd name="connsiteY24" fmla="*/ 2959917 h 6858002"/>
              <a:gd name="connsiteX25" fmla="*/ 6080363 w 6088698"/>
              <a:gd name="connsiteY25" fmla="*/ 3095705 h 6858002"/>
              <a:gd name="connsiteX26" fmla="*/ 6084530 w 6088698"/>
              <a:gd name="connsiteY26" fmla="*/ 3232865 h 6858002"/>
              <a:gd name="connsiteX27" fmla="*/ 6087308 w 6088698"/>
              <a:gd name="connsiteY27" fmla="*/ 3372768 h 6858002"/>
              <a:gd name="connsiteX28" fmla="*/ 6087308 w 6088698"/>
              <a:gd name="connsiteY28" fmla="*/ 3514043 h 6858002"/>
              <a:gd name="connsiteX29" fmla="*/ 6088698 w 6088698"/>
              <a:gd name="connsiteY29" fmla="*/ 3656689 h 6858002"/>
              <a:gd name="connsiteX30" fmla="*/ 6087308 w 6088698"/>
              <a:gd name="connsiteY30" fmla="*/ 3800707 h 6858002"/>
              <a:gd name="connsiteX31" fmla="*/ 6084530 w 6088698"/>
              <a:gd name="connsiteY31" fmla="*/ 3946783 h 6858002"/>
              <a:gd name="connsiteX32" fmla="*/ 6081983 w 6088698"/>
              <a:gd name="connsiteY32" fmla="*/ 4092858 h 6858002"/>
              <a:gd name="connsiteX33" fmla="*/ 6076427 w 6088698"/>
              <a:gd name="connsiteY33" fmla="*/ 4240991 h 6858002"/>
              <a:gd name="connsiteX34" fmla="*/ 6070639 w 6088698"/>
              <a:gd name="connsiteY34" fmla="*/ 4390495 h 6858002"/>
              <a:gd name="connsiteX35" fmla="*/ 6063924 w 6088698"/>
              <a:gd name="connsiteY35" fmla="*/ 4540000 h 6858002"/>
              <a:gd name="connsiteX36" fmla="*/ 6054432 w 6088698"/>
              <a:gd name="connsiteY36" fmla="*/ 4690876 h 6858002"/>
              <a:gd name="connsiteX37" fmla="*/ 6043086 w 6088698"/>
              <a:gd name="connsiteY37" fmla="*/ 4843123 h 6858002"/>
              <a:gd name="connsiteX38" fmla="*/ 6032204 w 6088698"/>
              <a:gd name="connsiteY38" fmla="*/ 4996057 h 6858002"/>
              <a:gd name="connsiteX39" fmla="*/ 6018313 w 6088698"/>
              <a:gd name="connsiteY39" fmla="*/ 5148990 h 6858002"/>
              <a:gd name="connsiteX40" fmla="*/ 6001642 w 6088698"/>
              <a:gd name="connsiteY40" fmla="*/ 5303981 h 6858002"/>
              <a:gd name="connsiteX41" fmla="*/ 5984972 w 6088698"/>
              <a:gd name="connsiteY41" fmla="*/ 5456914 h 6858002"/>
              <a:gd name="connsiteX42" fmla="*/ 5965754 w 6088698"/>
              <a:gd name="connsiteY42" fmla="*/ 5612591 h 6858002"/>
              <a:gd name="connsiteX43" fmla="*/ 5944685 w 6088698"/>
              <a:gd name="connsiteY43" fmla="*/ 5768953 h 6858002"/>
              <a:gd name="connsiteX44" fmla="*/ 5922459 w 6088698"/>
              <a:gd name="connsiteY44" fmla="*/ 5923258 h 6858002"/>
              <a:gd name="connsiteX45" fmla="*/ 5896527 w 6088698"/>
              <a:gd name="connsiteY45" fmla="*/ 6079621 h 6858002"/>
              <a:gd name="connsiteX46" fmla="*/ 5868743 w 6088698"/>
              <a:gd name="connsiteY46" fmla="*/ 6235297 h 6858002"/>
              <a:gd name="connsiteX47" fmla="*/ 5841190 w 6088698"/>
              <a:gd name="connsiteY47" fmla="*/ 6391660 h 6858002"/>
              <a:gd name="connsiteX48" fmla="*/ 5809008 w 6088698"/>
              <a:gd name="connsiteY48" fmla="*/ 6547336 h 6858002"/>
              <a:gd name="connsiteX49" fmla="*/ 5776130 w 6088698"/>
              <a:gd name="connsiteY49" fmla="*/ 6702327 h 6858002"/>
              <a:gd name="connsiteX50" fmla="*/ 5741633 w 6088698"/>
              <a:gd name="connsiteY50" fmla="*/ 6858002 h 6858002"/>
              <a:gd name="connsiteX51" fmla="*/ 2610464 w 6088698"/>
              <a:gd name="connsiteY51" fmla="*/ 6858002 h 6858002"/>
              <a:gd name="connsiteX52" fmla="*/ 0 w 6088698"/>
              <a:gd name="connsiteY52" fmla="*/ 6858002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088698" h="6858002">
                <a:moveTo>
                  <a:pt x="0" y="0"/>
                </a:moveTo>
                <a:lnTo>
                  <a:pt x="2610464" y="0"/>
                </a:lnTo>
                <a:lnTo>
                  <a:pt x="2610464" y="3"/>
                </a:lnTo>
                <a:lnTo>
                  <a:pt x="5749313" y="3"/>
                </a:lnTo>
                <a:lnTo>
                  <a:pt x="5749313" y="4"/>
                </a:lnTo>
                <a:lnTo>
                  <a:pt x="5740011" y="4"/>
                </a:lnTo>
                <a:lnTo>
                  <a:pt x="5748114" y="40466"/>
                </a:lnTo>
                <a:lnTo>
                  <a:pt x="5771963" y="159110"/>
                </a:lnTo>
                <a:lnTo>
                  <a:pt x="5788633" y="245521"/>
                </a:lnTo>
                <a:lnTo>
                  <a:pt x="5806229" y="348391"/>
                </a:lnTo>
                <a:lnTo>
                  <a:pt x="5827299" y="470463"/>
                </a:lnTo>
                <a:lnTo>
                  <a:pt x="5849526" y="605566"/>
                </a:lnTo>
                <a:lnTo>
                  <a:pt x="5872911" y="757813"/>
                </a:lnTo>
                <a:lnTo>
                  <a:pt x="5897684" y="923777"/>
                </a:lnTo>
                <a:lnTo>
                  <a:pt x="5922459" y="1104142"/>
                </a:lnTo>
                <a:lnTo>
                  <a:pt x="5947695" y="1296166"/>
                </a:lnTo>
                <a:lnTo>
                  <a:pt x="5971079" y="1503278"/>
                </a:lnTo>
                <a:lnTo>
                  <a:pt x="5993538" y="1719991"/>
                </a:lnTo>
                <a:lnTo>
                  <a:pt x="6013913" y="1949048"/>
                </a:lnTo>
                <a:lnTo>
                  <a:pt x="6033361" y="2187706"/>
                </a:lnTo>
                <a:lnTo>
                  <a:pt x="6051654" y="2436652"/>
                </a:lnTo>
                <a:lnTo>
                  <a:pt x="6058136" y="2564211"/>
                </a:lnTo>
                <a:lnTo>
                  <a:pt x="6065314" y="2694512"/>
                </a:lnTo>
                <a:lnTo>
                  <a:pt x="6072027" y="2826871"/>
                </a:lnTo>
                <a:lnTo>
                  <a:pt x="6076427" y="2959917"/>
                </a:lnTo>
                <a:lnTo>
                  <a:pt x="6080363" y="3095705"/>
                </a:lnTo>
                <a:lnTo>
                  <a:pt x="6084530" y="3232865"/>
                </a:lnTo>
                <a:lnTo>
                  <a:pt x="6087308" y="3372768"/>
                </a:lnTo>
                <a:lnTo>
                  <a:pt x="6087308" y="3514043"/>
                </a:lnTo>
                <a:lnTo>
                  <a:pt x="6088698" y="3656689"/>
                </a:lnTo>
                <a:lnTo>
                  <a:pt x="6087308" y="3800707"/>
                </a:lnTo>
                <a:lnTo>
                  <a:pt x="6084530" y="3946783"/>
                </a:lnTo>
                <a:lnTo>
                  <a:pt x="6081983" y="4092858"/>
                </a:lnTo>
                <a:lnTo>
                  <a:pt x="6076427" y="4240991"/>
                </a:lnTo>
                <a:lnTo>
                  <a:pt x="6070639" y="4390495"/>
                </a:lnTo>
                <a:lnTo>
                  <a:pt x="6063924" y="4540000"/>
                </a:lnTo>
                <a:lnTo>
                  <a:pt x="6054432" y="4690876"/>
                </a:lnTo>
                <a:lnTo>
                  <a:pt x="6043086" y="4843123"/>
                </a:lnTo>
                <a:lnTo>
                  <a:pt x="6032204" y="4996057"/>
                </a:lnTo>
                <a:lnTo>
                  <a:pt x="6018313" y="5148990"/>
                </a:lnTo>
                <a:lnTo>
                  <a:pt x="6001642" y="5303981"/>
                </a:lnTo>
                <a:lnTo>
                  <a:pt x="5984972" y="5456914"/>
                </a:lnTo>
                <a:lnTo>
                  <a:pt x="5965754" y="5612591"/>
                </a:lnTo>
                <a:lnTo>
                  <a:pt x="5944685" y="5768953"/>
                </a:lnTo>
                <a:lnTo>
                  <a:pt x="5922459" y="5923258"/>
                </a:lnTo>
                <a:lnTo>
                  <a:pt x="5896527" y="6079621"/>
                </a:lnTo>
                <a:lnTo>
                  <a:pt x="5868743" y="6235297"/>
                </a:lnTo>
                <a:lnTo>
                  <a:pt x="5841190" y="6391660"/>
                </a:lnTo>
                <a:lnTo>
                  <a:pt x="5809008" y="6547336"/>
                </a:lnTo>
                <a:lnTo>
                  <a:pt x="5776130" y="6702327"/>
                </a:lnTo>
                <a:lnTo>
                  <a:pt x="5741633" y="6858002"/>
                </a:lnTo>
                <a:lnTo>
                  <a:pt x="2610464" y="6858002"/>
                </a:lnTo>
                <a:lnTo>
                  <a:pt x="0" y="6858002"/>
                </a:lnTo>
                <a:close/>
              </a:path>
            </a:pathLst>
          </a:custGeom>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1B61AEC-0C6A-CF04-A6F2-DE0426255114}"/>
              </a:ext>
            </a:extLst>
          </p:cNvPr>
          <p:cNvSpPr>
            <a:spLocks noGrp="1"/>
          </p:cNvSpPr>
          <p:nvPr>
            <p:ph type="title"/>
          </p:nvPr>
        </p:nvSpPr>
        <p:spPr>
          <a:xfrm>
            <a:off x="900506" y="1118808"/>
            <a:ext cx="4671467" cy="4747683"/>
          </a:xfrm>
        </p:spPr>
        <p:txBody>
          <a:bodyPr anchor="ctr">
            <a:normAutofit/>
          </a:bodyPr>
          <a:lstStyle/>
          <a:p>
            <a:pPr algn="l"/>
            <a:r>
              <a:rPr lang="en-IN" sz="4800"/>
              <a:t>Outline</a:t>
            </a:r>
          </a:p>
        </p:txBody>
      </p:sp>
      <p:sp>
        <p:nvSpPr>
          <p:cNvPr id="3" name="Content Placeholder 2">
            <a:extLst>
              <a:ext uri="{FF2B5EF4-FFF2-40B4-BE49-F238E27FC236}">
                <a16:creationId xmlns:a16="http://schemas.microsoft.com/office/drawing/2014/main" id="{8E86A8CF-2937-6FE2-6F8A-377D2DF1D643}"/>
              </a:ext>
            </a:extLst>
          </p:cNvPr>
          <p:cNvSpPr>
            <a:spLocks noGrp="1"/>
          </p:cNvSpPr>
          <p:nvPr>
            <p:ph idx="1"/>
          </p:nvPr>
        </p:nvSpPr>
        <p:spPr>
          <a:xfrm>
            <a:off x="6498769" y="1118809"/>
            <a:ext cx="5049763" cy="4747681"/>
          </a:xfrm>
          <a:effectLst/>
        </p:spPr>
        <p:txBody>
          <a:bodyPr anchor="ctr">
            <a:normAutofit/>
          </a:bodyPr>
          <a:lstStyle/>
          <a:p>
            <a:pPr>
              <a:buFont typeface="Wingdings" panose="05000000000000000000" pitchFamily="2" charset="2"/>
              <a:buChar char="v"/>
            </a:pPr>
            <a:r>
              <a:rPr lang="en-IN">
                <a:solidFill>
                  <a:schemeClr val="tx1"/>
                </a:solidFill>
              </a:rPr>
              <a:t>Introduction</a:t>
            </a:r>
          </a:p>
          <a:p>
            <a:pPr>
              <a:buFont typeface="Wingdings" panose="05000000000000000000" pitchFamily="2" charset="2"/>
              <a:buChar char="v"/>
            </a:pPr>
            <a:r>
              <a:rPr lang="en-IN">
                <a:solidFill>
                  <a:schemeClr val="tx1"/>
                </a:solidFill>
              </a:rPr>
              <a:t>Literature Review</a:t>
            </a:r>
          </a:p>
          <a:p>
            <a:pPr>
              <a:buFont typeface="Wingdings" panose="05000000000000000000" pitchFamily="2" charset="2"/>
              <a:buChar char="v"/>
            </a:pPr>
            <a:r>
              <a:rPr lang="en-IN">
                <a:solidFill>
                  <a:schemeClr val="tx1"/>
                </a:solidFill>
              </a:rPr>
              <a:t>Problem Statement</a:t>
            </a:r>
          </a:p>
          <a:p>
            <a:pPr>
              <a:buFont typeface="Wingdings" panose="05000000000000000000" pitchFamily="2" charset="2"/>
              <a:buChar char="v"/>
            </a:pPr>
            <a:r>
              <a:rPr lang="en-IN">
                <a:solidFill>
                  <a:schemeClr val="tx1"/>
                </a:solidFill>
              </a:rPr>
              <a:t>Proposed Solution</a:t>
            </a:r>
          </a:p>
          <a:p>
            <a:pPr>
              <a:buFont typeface="Wingdings" panose="05000000000000000000" pitchFamily="2" charset="2"/>
              <a:buChar char="v"/>
            </a:pPr>
            <a:r>
              <a:rPr lang="en-IN">
                <a:solidFill>
                  <a:schemeClr val="tx1"/>
                </a:solidFill>
              </a:rPr>
              <a:t>Objectives</a:t>
            </a:r>
          </a:p>
          <a:p>
            <a:pPr>
              <a:buFont typeface="Wingdings" panose="05000000000000000000" pitchFamily="2" charset="2"/>
              <a:buChar char="v"/>
            </a:pPr>
            <a:r>
              <a:rPr lang="en-IN">
                <a:solidFill>
                  <a:schemeClr val="tx1"/>
                </a:solidFill>
              </a:rPr>
              <a:t>Results</a:t>
            </a:r>
          </a:p>
          <a:p>
            <a:pPr>
              <a:buFont typeface="Wingdings" panose="05000000000000000000" pitchFamily="2" charset="2"/>
              <a:buChar char="v"/>
            </a:pPr>
            <a:endParaRPr lang="en-IN">
              <a:solidFill>
                <a:schemeClr val="tx1"/>
              </a:solidFill>
            </a:endParaRPr>
          </a:p>
        </p:txBody>
      </p:sp>
    </p:spTree>
    <p:extLst>
      <p:ext uri="{BB962C8B-B14F-4D97-AF65-F5344CB8AC3E}">
        <p14:creationId xmlns:p14="http://schemas.microsoft.com/office/powerpoint/2010/main" val="4047219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A6C2C86-63BF-47D5-AA3F-905111A238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25A96B-B72E-0C72-F61B-C99183D10D26}"/>
              </a:ext>
            </a:extLst>
          </p:cNvPr>
          <p:cNvSpPr>
            <a:spLocks noGrp="1"/>
          </p:cNvSpPr>
          <p:nvPr>
            <p:ph type="title"/>
          </p:nvPr>
        </p:nvSpPr>
        <p:spPr>
          <a:xfrm>
            <a:off x="834013" y="1115568"/>
            <a:ext cx="3487616" cy="4626864"/>
          </a:xfrm>
        </p:spPr>
        <p:txBody>
          <a:bodyPr>
            <a:normAutofit/>
          </a:bodyPr>
          <a:lstStyle/>
          <a:p>
            <a:pPr algn="l"/>
            <a:r>
              <a:rPr lang="en-IN" sz="3600"/>
              <a:t>Introduction</a:t>
            </a:r>
          </a:p>
        </p:txBody>
      </p:sp>
      <p:cxnSp>
        <p:nvCxnSpPr>
          <p:cNvPr id="13" name="Straight Connector 12">
            <a:extLst>
              <a:ext uri="{FF2B5EF4-FFF2-40B4-BE49-F238E27FC236}">
                <a16:creationId xmlns:a16="http://schemas.microsoft.com/office/drawing/2014/main" id="{425A0768-3044-4AA9-A889-D2CAA68C51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605" y="2057400"/>
            <a:ext cx="0" cy="274320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031CBD1-1236-BD10-F9B4-E2675BA38ED1}"/>
              </a:ext>
            </a:extLst>
          </p:cNvPr>
          <p:cNvSpPr>
            <a:spLocks noGrp="1"/>
          </p:cNvSpPr>
          <p:nvPr>
            <p:ph idx="1"/>
          </p:nvPr>
        </p:nvSpPr>
        <p:spPr>
          <a:xfrm>
            <a:off x="5105398" y="1115568"/>
            <a:ext cx="6245352" cy="4626864"/>
          </a:xfrm>
        </p:spPr>
        <p:txBody>
          <a:bodyPr anchor="ctr">
            <a:normAutofit/>
          </a:bodyPr>
          <a:lstStyle/>
          <a:p>
            <a:pPr marL="0" indent="0">
              <a:buNone/>
            </a:pPr>
            <a:r>
              <a:rPr lang="en-US"/>
              <a:t>Deepfake technology has rapidly evolved, making it possible to generate highly realistic synthetic human faces. While this technology has creative uses, it poses major risks in misinformation, identity fraud, and digital manipulation.</a:t>
            </a:r>
            <a:br>
              <a:rPr lang="en-US"/>
            </a:br>
            <a:r>
              <a:rPr lang="en-US"/>
              <a:t>This project focuses on detecting whether an image is real or fake using computer vision and a Convolutional Neural Network trained on real and AI-generated facial images.</a:t>
            </a:r>
            <a:endParaRPr lang="en-IN" dirty="0"/>
          </a:p>
        </p:txBody>
      </p:sp>
    </p:spTree>
    <p:extLst>
      <p:ext uri="{BB962C8B-B14F-4D97-AF65-F5344CB8AC3E}">
        <p14:creationId xmlns:p14="http://schemas.microsoft.com/office/powerpoint/2010/main" val="2878976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A6C2C86-63BF-47D5-AA3F-905111A238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48E19D-5161-2D01-698D-254AC451F036}"/>
              </a:ext>
            </a:extLst>
          </p:cNvPr>
          <p:cNvSpPr>
            <a:spLocks noGrp="1"/>
          </p:cNvSpPr>
          <p:nvPr>
            <p:ph type="title"/>
          </p:nvPr>
        </p:nvSpPr>
        <p:spPr>
          <a:xfrm>
            <a:off x="834013" y="1115568"/>
            <a:ext cx="3487616" cy="4626864"/>
          </a:xfrm>
        </p:spPr>
        <p:txBody>
          <a:bodyPr>
            <a:normAutofit/>
          </a:bodyPr>
          <a:lstStyle/>
          <a:p>
            <a:pPr algn="l"/>
            <a:r>
              <a:rPr lang="en-US" sz="3600" dirty="0"/>
              <a:t>Introduction</a:t>
            </a:r>
            <a:br>
              <a:rPr lang="en-US" sz="3600" dirty="0"/>
            </a:br>
            <a:endParaRPr lang="en-IN" sz="3600" dirty="0"/>
          </a:p>
        </p:txBody>
      </p:sp>
      <p:cxnSp>
        <p:nvCxnSpPr>
          <p:cNvPr id="10" name="Straight Connector 9">
            <a:extLst>
              <a:ext uri="{FF2B5EF4-FFF2-40B4-BE49-F238E27FC236}">
                <a16:creationId xmlns:a16="http://schemas.microsoft.com/office/drawing/2014/main" id="{425A0768-3044-4AA9-A889-D2CAA68C51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605" y="2057400"/>
            <a:ext cx="0" cy="274320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9444B7E-4267-45C4-5657-0275AB221254}"/>
              </a:ext>
            </a:extLst>
          </p:cNvPr>
          <p:cNvSpPr>
            <a:spLocks noGrp="1"/>
          </p:cNvSpPr>
          <p:nvPr>
            <p:ph idx="1"/>
          </p:nvPr>
        </p:nvSpPr>
        <p:spPr>
          <a:xfrm>
            <a:off x="5105397" y="1115567"/>
            <a:ext cx="6527159" cy="4787521"/>
          </a:xfrm>
        </p:spPr>
        <p:txBody>
          <a:bodyPr anchor="ctr">
            <a:normAutofit/>
          </a:bodyPr>
          <a:lstStyle/>
          <a:p>
            <a:pPr marL="36900" indent="0">
              <a:buNone/>
            </a:pPr>
            <a:r>
              <a:rPr lang="en-US" dirty="0"/>
              <a:t>The system uses OpenCV for image preprocessing and TensorFlow/</a:t>
            </a:r>
            <a:r>
              <a:rPr lang="en-US" dirty="0" err="1"/>
              <a:t>Keras</a:t>
            </a:r>
            <a:r>
              <a:rPr lang="en-US" dirty="0"/>
              <a:t> for CNN-based classification.</a:t>
            </a:r>
          </a:p>
          <a:p>
            <a:pPr marL="36900" indent="0">
              <a:buNone/>
            </a:pPr>
            <a:br>
              <a:rPr lang="en-US" dirty="0"/>
            </a:br>
            <a:r>
              <a:rPr lang="en-US" dirty="0"/>
              <a:t>The workflow includes dataset preparation, model training, evaluation using multiple metrics, and real-time prediction. The goal is to build a lightweight, accurate model that performs well on unseen images.</a:t>
            </a:r>
            <a:endParaRPr lang="en-IN" dirty="0"/>
          </a:p>
        </p:txBody>
      </p:sp>
    </p:spTree>
    <p:extLst>
      <p:ext uri="{BB962C8B-B14F-4D97-AF65-F5344CB8AC3E}">
        <p14:creationId xmlns:p14="http://schemas.microsoft.com/office/powerpoint/2010/main" val="15511604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5647D-9B85-4135-FDC8-4412998CA206}"/>
              </a:ext>
            </a:extLst>
          </p:cNvPr>
          <p:cNvSpPr>
            <a:spLocks noGrp="1"/>
          </p:cNvSpPr>
          <p:nvPr>
            <p:ph type="title"/>
          </p:nvPr>
        </p:nvSpPr>
        <p:spPr>
          <a:xfrm>
            <a:off x="913795" y="609600"/>
            <a:ext cx="5978072" cy="1329596"/>
          </a:xfrm>
        </p:spPr>
        <p:txBody>
          <a:bodyPr>
            <a:normAutofit/>
          </a:bodyPr>
          <a:lstStyle/>
          <a:p>
            <a:r>
              <a:rPr lang="en-IN" dirty="0"/>
              <a:t>Literature Review</a:t>
            </a:r>
          </a:p>
        </p:txBody>
      </p:sp>
      <p:sp>
        <p:nvSpPr>
          <p:cNvPr id="3" name="Content Placeholder 2">
            <a:extLst>
              <a:ext uri="{FF2B5EF4-FFF2-40B4-BE49-F238E27FC236}">
                <a16:creationId xmlns:a16="http://schemas.microsoft.com/office/drawing/2014/main" id="{7485F665-7E3B-0A75-0EE5-8FA0D35D261D}"/>
              </a:ext>
            </a:extLst>
          </p:cNvPr>
          <p:cNvSpPr>
            <a:spLocks noGrp="1"/>
          </p:cNvSpPr>
          <p:nvPr>
            <p:ph idx="1"/>
          </p:nvPr>
        </p:nvSpPr>
        <p:spPr>
          <a:xfrm>
            <a:off x="913795" y="2127623"/>
            <a:ext cx="5978072" cy="3567225"/>
          </a:xfrm>
        </p:spPr>
        <p:txBody>
          <a:bodyPr anchor="ctr">
            <a:normAutofit/>
          </a:bodyPr>
          <a:lstStyle/>
          <a:p>
            <a:pPr marL="0" indent="0">
              <a:buNone/>
            </a:pPr>
            <a:r>
              <a:rPr lang="en-IN" i="1" dirty="0" err="1"/>
              <a:t>Afchar</a:t>
            </a:r>
            <a:r>
              <a:rPr lang="en-IN" i="1" dirty="0"/>
              <a:t> et al. (</a:t>
            </a:r>
            <a:r>
              <a:rPr lang="en-IN" i="1" dirty="0" err="1"/>
              <a:t>MesoNet</a:t>
            </a:r>
            <a:r>
              <a:rPr lang="en-IN" i="1" dirty="0"/>
              <a:t>, 2018):</a:t>
            </a:r>
            <a:r>
              <a:rPr lang="en-IN" dirty="0"/>
              <a:t> Proposed a lightweight CNN for deepfake detection but had limited performance on diverse manipulation methods.</a:t>
            </a:r>
          </a:p>
          <a:p>
            <a:pPr marL="0" indent="0">
              <a:buNone/>
            </a:pPr>
            <a:br>
              <a:rPr lang="en-IN" dirty="0"/>
            </a:br>
            <a:r>
              <a:rPr lang="en-IN" dirty="0"/>
              <a:t> </a:t>
            </a:r>
            <a:r>
              <a:rPr lang="en-IN" i="1" dirty="0"/>
              <a:t>Du et al. (2020):</a:t>
            </a:r>
            <a:r>
              <a:rPr lang="en-IN" dirty="0"/>
              <a:t> Introduced Locality-Aware </a:t>
            </a:r>
            <a:r>
              <a:rPr lang="en-IN" dirty="0" err="1"/>
              <a:t>AutoEncoder</a:t>
            </a:r>
            <a:r>
              <a:rPr lang="en-IN" dirty="0"/>
              <a:t> for better generalization, though accuracy dropped on unseen datasets.</a:t>
            </a:r>
          </a:p>
        </p:txBody>
      </p:sp>
      <p:pic>
        <p:nvPicPr>
          <p:cNvPr id="12" name="Picture 11">
            <a:extLst>
              <a:ext uri="{FF2B5EF4-FFF2-40B4-BE49-F238E27FC236}">
                <a16:creationId xmlns:a16="http://schemas.microsoft.com/office/drawing/2014/main" id="{7AEE9CAC-347C-43C2-AE87-6BC5566E60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964" r="2807" b="1446"/>
          <a:stretch/>
        </p:blipFill>
        <p:spPr>
          <a:xfrm>
            <a:off x="7232905" y="1"/>
            <a:ext cx="4959095" cy="6858000"/>
          </a:xfrm>
          <a:prstGeom prst="rect">
            <a:avLst/>
          </a:prstGeom>
        </p:spPr>
      </p:pic>
      <p:pic>
        <p:nvPicPr>
          <p:cNvPr id="7" name="Graphic 6" descr="Newspaper">
            <a:extLst>
              <a:ext uri="{FF2B5EF4-FFF2-40B4-BE49-F238E27FC236}">
                <a16:creationId xmlns:a16="http://schemas.microsoft.com/office/drawing/2014/main" id="{DA642E85-7517-1A36-8952-5D2944F84DE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552945" y="1197355"/>
            <a:ext cx="3995592" cy="3995592"/>
          </a:xfrm>
          <a:prstGeom prst="rect">
            <a:avLst/>
          </a:prstGeom>
        </p:spPr>
      </p:pic>
    </p:spTree>
    <p:extLst>
      <p:ext uri="{BB962C8B-B14F-4D97-AF65-F5344CB8AC3E}">
        <p14:creationId xmlns:p14="http://schemas.microsoft.com/office/powerpoint/2010/main" val="310308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59ACD893-BDDE-43D2-9A64-050CC8878B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4423BB-872A-3586-53A0-05A02E953BB9}"/>
              </a:ext>
            </a:extLst>
          </p:cNvPr>
          <p:cNvSpPr>
            <a:spLocks noGrp="1"/>
          </p:cNvSpPr>
          <p:nvPr>
            <p:ph type="title"/>
          </p:nvPr>
        </p:nvSpPr>
        <p:spPr>
          <a:xfrm>
            <a:off x="913795" y="609600"/>
            <a:ext cx="5978072" cy="1329596"/>
          </a:xfrm>
        </p:spPr>
        <p:txBody>
          <a:bodyPr>
            <a:normAutofit/>
          </a:bodyPr>
          <a:lstStyle/>
          <a:p>
            <a:r>
              <a:rPr lang="en-IN" dirty="0"/>
              <a:t>Literature Review</a:t>
            </a:r>
          </a:p>
        </p:txBody>
      </p:sp>
      <p:sp>
        <p:nvSpPr>
          <p:cNvPr id="3" name="Content Placeholder 2">
            <a:extLst>
              <a:ext uri="{FF2B5EF4-FFF2-40B4-BE49-F238E27FC236}">
                <a16:creationId xmlns:a16="http://schemas.microsoft.com/office/drawing/2014/main" id="{7AB9779B-96A1-8F61-6457-910B70E391F0}"/>
              </a:ext>
            </a:extLst>
          </p:cNvPr>
          <p:cNvSpPr>
            <a:spLocks noGrp="1"/>
          </p:cNvSpPr>
          <p:nvPr>
            <p:ph idx="1"/>
          </p:nvPr>
        </p:nvSpPr>
        <p:spPr>
          <a:xfrm>
            <a:off x="913795" y="2127623"/>
            <a:ext cx="5978072" cy="3567225"/>
          </a:xfrm>
        </p:spPr>
        <p:txBody>
          <a:bodyPr anchor="ctr">
            <a:normAutofit/>
          </a:bodyPr>
          <a:lstStyle/>
          <a:p>
            <a:pPr marL="0" indent="0">
              <a:lnSpc>
                <a:spcPct val="90000"/>
              </a:lnSpc>
              <a:buNone/>
            </a:pPr>
            <a:r>
              <a:rPr lang="en-IN" dirty="0"/>
              <a:t> </a:t>
            </a:r>
            <a:r>
              <a:rPr lang="en-IN" i="1" dirty="0" err="1"/>
              <a:t>Jevnisek</a:t>
            </a:r>
            <a:r>
              <a:rPr lang="en-IN" i="1" dirty="0"/>
              <a:t> &amp; Avidan (2022):</a:t>
            </a:r>
            <a:r>
              <a:rPr lang="en-IN" dirty="0"/>
              <a:t> Developed per-layer feature aggregation for robustness, but required high computational resources.</a:t>
            </a:r>
          </a:p>
          <a:p>
            <a:pPr marL="0" indent="0">
              <a:lnSpc>
                <a:spcPct val="90000"/>
              </a:lnSpc>
              <a:buNone/>
            </a:pPr>
            <a:br>
              <a:rPr lang="en-IN" dirty="0"/>
            </a:br>
            <a:r>
              <a:rPr lang="en-IN" dirty="0"/>
              <a:t> </a:t>
            </a:r>
            <a:r>
              <a:rPr lang="en-IN" i="1" dirty="0"/>
              <a:t>Korshunov &amp; Marcel (2020):</a:t>
            </a:r>
            <a:r>
              <a:rPr lang="en-IN" dirty="0"/>
              <a:t> Human vs machine study showed humans struggle with detecting deepfakes, proving need for automated systems.</a:t>
            </a:r>
          </a:p>
          <a:p>
            <a:pPr marL="0" indent="0">
              <a:lnSpc>
                <a:spcPct val="90000"/>
              </a:lnSpc>
              <a:buNone/>
            </a:pPr>
            <a:endParaRPr lang="en-IN" dirty="0"/>
          </a:p>
          <a:p>
            <a:pPr marL="0" indent="0">
              <a:lnSpc>
                <a:spcPct val="90000"/>
              </a:lnSpc>
              <a:buNone/>
            </a:pPr>
            <a:r>
              <a:rPr lang="en-US" dirty="0"/>
              <a:t> </a:t>
            </a:r>
            <a:r>
              <a:rPr lang="en-US" i="1" dirty="0" err="1"/>
              <a:t>Verdoliva</a:t>
            </a:r>
            <a:r>
              <a:rPr lang="en-US" i="1" dirty="0"/>
              <a:t> (2020):</a:t>
            </a:r>
            <a:r>
              <a:rPr lang="en-US" dirty="0"/>
              <a:t> Overview of deepfake challenges such as dataset bias, generalization issues, and evolving manipulation techniques.</a:t>
            </a:r>
            <a:endParaRPr lang="en-IN" dirty="0"/>
          </a:p>
        </p:txBody>
      </p:sp>
      <p:pic>
        <p:nvPicPr>
          <p:cNvPr id="12" name="Picture 11">
            <a:extLst>
              <a:ext uri="{FF2B5EF4-FFF2-40B4-BE49-F238E27FC236}">
                <a16:creationId xmlns:a16="http://schemas.microsoft.com/office/drawing/2014/main" id="{7AEE9CAC-347C-43C2-AE87-6BC5566E60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964" r="2807" b="1446"/>
          <a:stretch/>
        </p:blipFill>
        <p:spPr>
          <a:xfrm>
            <a:off x="7232905" y="1"/>
            <a:ext cx="4959095" cy="6858000"/>
          </a:xfrm>
          <a:prstGeom prst="rect">
            <a:avLst/>
          </a:prstGeom>
        </p:spPr>
      </p:pic>
      <p:pic>
        <p:nvPicPr>
          <p:cNvPr id="7" name="Graphic 6" descr="Newspaper">
            <a:extLst>
              <a:ext uri="{FF2B5EF4-FFF2-40B4-BE49-F238E27FC236}">
                <a16:creationId xmlns:a16="http://schemas.microsoft.com/office/drawing/2014/main" id="{6599EAD4-F74A-D2AE-39CE-0E800930FB1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552945" y="1197355"/>
            <a:ext cx="3995592" cy="3995592"/>
          </a:xfrm>
          <a:prstGeom prst="rect">
            <a:avLst/>
          </a:prstGeom>
        </p:spPr>
      </p:pic>
    </p:spTree>
    <p:extLst>
      <p:ext uri="{BB962C8B-B14F-4D97-AF65-F5344CB8AC3E}">
        <p14:creationId xmlns:p14="http://schemas.microsoft.com/office/powerpoint/2010/main" val="1604777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9B7A5598-F09E-09D8-31D2-3EE5CF7B62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2F2358-22A0-2EB7-416C-570AC8D62909}"/>
              </a:ext>
            </a:extLst>
          </p:cNvPr>
          <p:cNvSpPr>
            <a:spLocks noGrp="1"/>
          </p:cNvSpPr>
          <p:nvPr>
            <p:ph type="title"/>
          </p:nvPr>
        </p:nvSpPr>
        <p:spPr>
          <a:xfrm>
            <a:off x="913795" y="609600"/>
            <a:ext cx="5978072" cy="1329596"/>
          </a:xfrm>
        </p:spPr>
        <p:txBody>
          <a:bodyPr>
            <a:normAutofit/>
          </a:bodyPr>
          <a:lstStyle/>
          <a:p>
            <a:r>
              <a:rPr lang="en-IN" dirty="0"/>
              <a:t>Literature Review</a:t>
            </a:r>
          </a:p>
        </p:txBody>
      </p:sp>
      <p:sp>
        <p:nvSpPr>
          <p:cNvPr id="3" name="Content Placeholder 2">
            <a:extLst>
              <a:ext uri="{FF2B5EF4-FFF2-40B4-BE49-F238E27FC236}">
                <a16:creationId xmlns:a16="http://schemas.microsoft.com/office/drawing/2014/main" id="{B71D66AB-FF66-81D8-124F-C611FB644C7C}"/>
              </a:ext>
            </a:extLst>
          </p:cNvPr>
          <p:cNvSpPr>
            <a:spLocks noGrp="1"/>
          </p:cNvSpPr>
          <p:nvPr>
            <p:ph idx="1"/>
          </p:nvPr>
        </p:nvSpPr>
        <p:spPr>
          <a:xfrm>
            <a:off x="913795" y="2127623"/>
            <a:ext cx="5978072" cy="3567225"/>
          </a:xfrm>
        </p:spPr>
        <p:txBody>
          <a:bodyPr anchor="ctr">
            <a:normAutofit/>
          </a:bodyPr>
          <a:lstStyle/>
          <a:p>
            <a:pPr marL="0" indent="0">
              <a:buNone/>
            </a:pPr>
            <a:br>
              <a:rPr lang="en-US" dirty="0"/>
            </a:br>
            <a:r>
              <a:rPr lang="en-US" b="1" dirty="0"/>
              <a:t>Summary:</a:t>
            </a:r>
            <a:r>
              <a:rPr lang="en-US" dirty="0"/>
              <a:t> Existing models struggle with generalization and explainability. A lightweight, effective, and interpretable solution is still needed.</a:t>
            </a:r>
            <a:endParaRPr lang="en-IN" dirty="0"/>
          </a:p>
        </p:txBody>
      </p:sp>
      <p:pic>
        <p:nvPicPr>
          <p:cNvPr id="12" name="Picture 11">
            <a:extLst>
              <a:ext uri="{FF2B5EF4-FFF2-40B4-BE49-F238E27FC236}">
                <a16:creationId xmlns:a16="http://schemas.microsoft.com/office/drawing/2014/main" id="{7AEE9CAC-347C-43C2-AE87-6BC5566E60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964" r="2807" b="1446"/>
          <a:stretch/>
        </p:blipFill>
        <p:spPr>
          <a:xfrm>
            <a:off x="7232905" y="1"/>
            <a:ext cx="4959095" cy="6858000"/>
          </a:xfrm>
          <a:prstGeom prst="rect">
            <a:avLst/>
          </a:prstGeom>
        </p:spPr>
      </p:pic>
      <p:pic>
        <p:nvPicPr>
          <p:cNvPr id="7" name="Graphic 6" descr="Newspaper">
            <a:extLst>
              <a:ext uri="{FF2B5EF4-FFF2-40B4-BE49-F238E27FC236}">
                <a16:creationId xmlns:a16="http://schemas.microsoft.com/office/drawing/2014/main" id="{4CE94105-34DB-4F14-A2DC-B73A25D49B4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552945" y="1197355"/>
            <a:ext cx="3995592" cy="3995592"/>
          </a:xfrm>
          <a:prstGeom prst="rect">
            <a:avLst/>
          </a:prstGeom>
        </p:spPr>
      </p:pic>
    </p:spTree>
    <p:extLst>
      <p:ext uri="{BB962C8B-B14F-4D97-AF65-F5344CB8AC3E}">
        <p14:creationId xmlns:p14="http://schemas.microsoft.com/office/powerpoint/2010/main" val="3142922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A1533-4BE1-DF5E-D485-BD167C2BD85D}"/>
              </a:ext>
            </a:extLst>
          </p:cNvPr>
          <p:cNvSpPr>
            <a:spLocks noGrp="1"/>
          </p:cNvSpPr>
          <p:nvPr>
            <p:ph type="title"/>
          </p:nvPr>
        </p:nvSpPr>
        <p:spPr>
          <a:xfrm>
            <a:off x="913795" y="609600"/>
            <a:ext cx="5978072" cy="1329596"/>
          </a:xfrm>
        </p:spPr>
        <p:txBody>
          <a:bodyPr>
            <a:normAutofit/>
          </a:bodyPr>
          <a:lstStyle/>
          <a:p>
            <a:r>
              <a:rPr lang="en-IN" dirty="0"/>
              <a:t>Problem Statement</a:t>
            </a:r>
          </a:p>
        </p:txBody>
      </p:sp>
      <p:sp>
        <p:nvSpPr>
          <p:cNvPr id="3" name="Content Placeholder 2">
            <a:extLst>
              <a:ext uri="{FF2B5EF4-FFF2-40B4-BE49-F238E27FC236}">
                <a16:creationId xmlns:a16="http://schemas.microsoft.com/office/drawing/2014/main" id="{CB024CC5-00AF-876C-F7CA-146754384CB0}"/>
              </a:ext>
            </a:extLst>
          </p:cNvPr>
          <p:cNvSpPr>
            <a:spLocks noGrp="1"/>
          </p:cNvSpPr>
          <p:nvPr>
            <p:ph idx="1"/>
          </p:nvPr>
        </p:nvSpPr>
        <p:spPr>
          <a:xfrm>
            <a:off x="913795" y="2127623"/>
            <a:ext cx="5978072" cy="3567225"/>
          </a:xfrm>
        </p:spPr>
        <p:txBody>
          <a:bodyPr anchor="ctr">
            <a:normAutofit/>
          </a:bodyPr>
          <a:lstStyle/>
          <a:p>
            <a:pPr marL="0" indent="0">
              <a:buNone/>
            </a:pPr>
            <a:r>
              <a:rPr lang="en-US" dirty="0"/>
              <a:t>Deepfakes are becoming increasingly realistic, making them hard to detect.</a:t>
            </a:r>
            <a:br>
              <a:rPr lang="en-US" dirty="0"/>
            </a:br>
            <a:r>
              <a:rPr lang="en-US" dirty="0"/>
              <a:t>Current models lack accuracy, speed, and generalization.</a:t>
            </a:r>
            <a:br>
              <a:rPr lang="en-US" dirty="0"/>
            </a:br>
            <a:r>
              <a:rPr lang="en-US" dirty="0"/>
              <a:t>There is a need for a lightweight CNN model that can quickly and reliably classify real vs fake faces and work well on diverse images.</a:t>
            </a:r>
            <a:endParaRPr lang="en-IN" dirty="0"/>
          </a:p>
        </p:txBody>
      </p:sp>
      <p:pic>
        <p:nvPicPr>
          <p:cNvPr id="10" name="Picture 9">
            <a:extLst>
              <a:ext uri="{FF2B5EF4-FFF2-40B4-BE49-F238E27FC236}">
                <a16:creationId xmlns:a16="http://schemas.microsoft.com/office/drawing/2014/main" id="{7AEE9CAC-347C-43C2-AE87-6BC5566E60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964" r="2807" b="1446"/>
          <a:stretch/>
        </p:blipFill>
        <p:spPr>
          <a:xfrm>
            <a:off x="7232905" y="1"/>
            <a:ext cx="4959095" cy="6858000"/>
          </a:xfrm>
          <a:prstGeom prst="rect">
            <a:avLst/>
          </a:prstGeom>
        </p:spPr>
      </p:pic>
      <p:pic>
        <p:nvPicPr>
          <p:cNvPr id="7" name="Graphic 6" descr="Hourglass">
            <a:extLst>
              <a:ext uri="{FF2B5EF4-FFF2-40B4-BE49-F238E27FC236}">
                <a16:creationId xmlns:a16="http://schemas.microsoft.com/office/drawing/2014/main" id="{18F3EC3D-F0DC-57B3-D760-A764072F329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552945" y="1197355"/>
            <a:ext cx="3995592" cy="3995592"/>
          </a:xfrm>
          <a:prstGeom prst="rect">
            <a:avLst/>
          </a:prstGeom>
        </p:spPr>
      </p:pic>
    </p:spTree>
    <p:extLst>
      <p:ext uri="{BB962C8B-B14F-4D97-AF65-F5344CB8AC3E}">
        <p14:creationId xmlns:p14="http://schemas.microsoft.com/office/powerpoint/2010/main" val="2374707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C224410-FF86-4FBB-A05E-61232D4B1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F3BDD110-869E-4A8C-9250-C7AE5C840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02" y="-2"/>
            <a:ext cx="6088698" cy="6858002"/>
          </a:xfrm>
          <a:custGeom>
            <a:avLst/>
            <a:gdLst>
              <a:gd name="connsiteX0" fmla="*/ 0 w 6088698"/>
              <a:gd name="connsiteY0" fmla="*/ 0 h 6858002"/>
              <a:gd name="connsiteX1" fmla="*/ 2610464 w 6088698"/>
              <a:gd name="connsiteY1" fmla="*/ 0 h 6858002"/>
              <a:gd name="connsiteX2" fmla="*/ 2610464 w 6088698"/>
              <a:gd name="connsiteY2" fmla="*/ 3 h 6858002"/>
              <a:gd name="connsiteX3" fmla="*/ 5749313 w 6088698"/>
              <a:gd name="connsiteY3" fmla="*/ 3 h 6858002"/>
              <a:gd name="connsiteX4" fmla="*/ 5749313 w 6088698"/>
              <a:gd name="connsiteY4" fmla="*/ 4 h 6858002"/>
              <a:gd name="connsiteX5" fmla="*/ 5740011 w 6088698"/>
              <a:gd name="connsiteY5" fmla="*/ 4 h 6858002"/>
              <a:gd name="connsiteX6" fmla="*/ 5748114 w 6088698"/>
              <a:gd name="connsiteY6" fmla="*/ 40466 h 6858002"/>
              <a:gd name="connsiteX7" fmla="*/ 5771963 w 6088698"/>
              <a:gd name="connsiteY7" fmla="*/ 159110 h 6858002"/>
              <a:gd name="connsiteX8" fmla="*/ 5788633 w 6088698"/>
              <a:gd name="connsiteY8" fmla="*/ 245521 h 6858002"/>
              <a:gd name="connsiteX9" fmla="*/ 5806229 w 6088698"/>
              <a:gd name="connsiteY9" fmla="*/ 348391 h 6858002"/>
              <a:gd name="connsiteX10" fmla="*/ 5827299 w 6088698"/>
              <a:gd name="connsiteY10" fmla="*/ 470463 h 6858002"/>
              <a:gd name="connsiteX11" fmla="*/ 5849526 w 6088698"/>
              <a:gd name="connsiteY11" fmla="*/ 605566 h 6858002"/>
              <a:gd name="connsiteX12" fmla="*/ 5872911 w 6088698"/>
              <a:gd name="connsiteY12" fmla="*/ 757813 h 6858002"/>
              <a:gd name="connsiteX13" fmla="*/ 5897684 w 6088698"/>
              <a:gd name="connsiteY13" fmla="*/ 923777 h 6858002"/>
              <a:gd name="connsiteX14" fmla="*/ 5922459 w 6088698"/>
              <a:gd name="connsiteY14" fmla="*/ 1104142 h 6858002"/>
              <a:gd name="connsiteX15" fmla="*/ 5947695 w 6088698"/>
              <a:gd name="connsiteY15" fmla="*/ 1296166 h 6858002"/>
              <a:gd name="connsiteX16" fmla="*/ 5971079 w 6088698"/>
              <a:gd name="connsiteY16" fmla="*/ 1503278 h 6858002"/>
              <a:gd name="connsiteX17" fmla="*/ 5993538 w 6088698"/>
              <a:gd name="connsiteY17" fmla="*/ 1719991 h 6858002"/>
              <a:gd name="connsiteX18" fmla="*/ 6013913 w 6088698"/>
              <a:gd name="connsiteY18" fmla="*/ 1949048 h 6858002"/>
              <a:gd name="connsiteX19" fmla="*/ 6033361 w 6088698"/>
              <a:gd name="connsiteY19" fmla="*/ 2187706 h 6858002"/>
              <a:gd name="connsiteX20" fmla="*/ 6051654 w 6088698"/>
              <a:gd name="connsiteY20" fmla="*/ 2436652 h 6858002"/>
              <a:gd name="connsiteX21" fmla="*/ 6058136 w 6088698"/>
              <a:gd name="connsiteY21" fmla="*/ 2564211 h 6858002"/>
              <a:gd name="connsiteX22" fmla="*/ 6065314 w 6088698"/>
              <a:gd name="connsiteY22" fmla="*/ 2694512 h 6858002"/>
              <a:gd name="connsiteX23" fmla="*/ 6072027 w 6088698"/>
              <a:gd name="connsiteY23" fmla="*/ 2826871 h 6858002"/>
              <a:gd name="connsiteX24" fmla="*/ 6076427 w 6088698"/>
              <a:gd name="connsiteY24" fmla="*/ 2959917 h 6858002"/>
              <a:gd name="connsiteX25" fmla="*/ 6080363 w 6088698"/>
              <a:gd name="connsiteY25" fmla="*/ 3095705 h 6858002"/>
              <a:gd name="connsiteX26" fmla="*/ 6084530 w 6088698"/>
              <a:gd name="connsiteY26" fmla="*/ 3232865 h 6858002"/>
              <a:gd name="connsiteX27" fmla="*/ 6087308 w 6088698"/>
              <a:gd name="connsiteY27" fmla="*/ 3372768 h 6858002"/>
              <a:gd name="connsiteX28" fmla="*/ 6087308 w 6088698"/>
              <a:gd name="connsiteY28" fmla="*/ 3514043 h 6858002"/>
              <a:gd name="connsiteX29" fmla="*/ 6088698 w 6088698"/>
              <a:gd name="connsiteY29" fmla="*/ 3656689 h 6858002"/>
              <a:gd name="connsiteX30" fmla="*/ 6087308 w 6088698"/>
              <a:gd name="connsiteY30" fmla="*/ 3800707 h 6858002"/>
              <a:gd name="connsiteX31" fmla="*/ 6084530 w 6088698"/>
              <a:gd name="connsiteY31" fmla="*/ 3946783 h 6858002"/>
              <a:gd name="connsiteX32" fmla="*/ 6081983 w 6088698"/>
              <a:gd name="connsiteY32" fmla="*/ 4092858 h 6858002"/>
              <a:gd name="connsiteX33" fmla="*/ 6076427 w 6088698"/>
              <a:gd name="connsiteY33" fmla="*/ 4240991 h 6858002"/>
              <a:gd name="connsiteX34" fmla="*/ 6070639 w 6088698"/>
              <a:gd name="connsiteY34" fmla="*/ 4390495 h 6858002"/>
              <a:gd name="connsiteX35" fmla="*/ 6063924 w 6088698"/>
              <a:gd name="connsiteY35" fmla="*/ 4540000 h 6858002"/>
              <a:gd name="connsiteX36" fmla="*/ 6054432 w 6088698"/>
              <a:gd name="connsiteY36" fmla="*/ 4690876 h 6858002"/>
              <a:gd name="connsiteX37" fmla="*/ 6043086 w 6088698"/>
              <a:gd name="connsiteY37" fmla="*/ 4843123 h 6858002"/>
              <a:gd name="connsiteX38" fmla="*/ 6032204 w 6088698"/>
              <a:gd name="connsiteY38" fmla="*/ 4996057 h 6858002"/>
              <a:gd name="connsiteX39" fmla="*/ 6018313 w 6088698"/>
              <a:gd name="connsiteY39" fmla="*/ 5148990 h 6858002"/>
              <a:gd name="connsiteX40" fmla="*/ 6001642 w 6088698"/>
              <a:gd name="connsiteY40" fmla="*/ 5303981 h 6858002"/>
              <a:gd name="connsiteX41" fmla="*/ 5984972 w 6088698"/>
              <a:gd name="connsiteY41" fmla="*/ 5456914 h 6858002"/>
              <a:gd name="connsiteX42" fmla="*/ 5965754 w 6088698"/>
              <a:gd name="connsiteY42" fmla="*/ 5612591 h 6858002"/>
              <a:gd name="connsiteX43" fmla="*/ 5944685 w 6088698"/>
              <a:gd name="connsiteY43" fmla="*/ 5768953 h 6858002"/>
              <a:gd name="connsiteX44" fmla="*/ 5922459 w 6088698"/>
              <a:gd name="connsiteY44" fmla="*/ 5923258 h 6858002"/>
              <a:gd name="connsiteX45" fmla="*/ 5896527 w 6088698"/>
              <a:gd name="connsiteY45" fmla="*/ 6079621 h 6858002"/>
              <a:gd name="connsiteX46" fmla="*/ 5868743 w 6088698"/>
              <a:gd name="connsiteY46" fmla="*/ 6235297 h 6858002"/>
              <a:gd name="connsiteX47" fmla="*/ 5841190 w 6088698"/>
              <a:gd name="connsiteY47" fmla="*/ 6391660 h 6858002"/>
              <a:gd name="connsiteX48" fmla="*/ 5809008 w 6088698"/>
              <a:gd name="connsiteY48" fmla="*/ 6547336 h 6858002"/>
              <a:gd name="connsiteX49" fmla="*/ 5776130 w 6088698"/>
              <a:gd name="connsiteY49" fmla="*/ 6702327 h 6858002"/>
              <a:gd name="connsiteX50" fmla="*/ 5741633 w 6088698"/>
              <a:gd name="connsiteY50" fmla="*/ 6858002 h 6858002"/>
              <a:gd name="connsiteX51" fmla="*/ 2610464 w 6088698"/>
              <a:gd name="connsiteY51" fmla="*/ 6858002 h 6858002"/>
              <a:gd name="connsiteX52" fmla="*/ 0 w 6088698"/>
              <a:gd name="connsiteY52" fmla="*/ 6858002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088698" h="6858002">
                <a:moveTo>
                  <a:pt x="0" y="0"/>
                </a:moveTo>
                <a:lnTo>
                  <a:pt x="2610464" y="0"/>
                </a:lnTo>
                <a:lnTo>
                  <a:pt x="2610464" y="3"/>
                </a:lnTo>
                <a:lnTo>
                  <a:pt x="5749313" y="3"/>
                </a:lnTo>
                <a:lnTo>
                  <a:pt x="5749313" y="4"/>
                </a:lnTo>
                <a:lnTo>
                  <a:pt x="5740011" y="4"/>
                </a:lnTo>
                <a:lnTo>
                  <a:pt x="5748114" y="40466"/>
                </a:lnTo>
                <a:lnTo>
                  <a:pt x="5771963" y="159110"/>
                </a:lnTo>
                <a:lnTo>
                  <a:pt x="5788633" y="245521"/>
                </a:lnTo>
                <a:lnTo>
                  <a:pt x="5806229" y="348391"/>
                </a:lnTo>
                <a:lnTo>
                  <a:pt x="5827299" y="470463"/>
                </a:lnTo>
                <a:lnTo>
                  <a:pt x="5849526" y="605566"/>
                </a:lnTo>
                <a:lnTo>
                  <a:pt x="5872911" y="757813"/>
                </a:lnTo>
                <a:lnTo>
                  <a:pt x="5897684" y="923777"/>
                </a:lnTo>
                <a:lnTo>
                  <a:pt x="5922459" y="1104142"/>
                </a:lnTo>
                <a:lnTo>
                  <a:pt x="5947695" y="1296166"/>
                </a:lnTo>
                <a:lnTo>
                  <a:pt x="5971079" y="1503278"/>
                </a:lnTo>
                <a:lnTo>
                  <a:pt x="5993538" y="1719991"/>
                </a:lnTo>
                <a:lnTo>
                  <a:pt x="6013913" y="1949048"/>
                </a:lnTo>
                <a:lnTo>
                  <a:pt x="6033361" y="2187706"/>
                </a:lnTo>
                <a:lnTo>
                  <a:pt x="6051654" y="2436652"/>
                </a:lnTo>
                <a:lnTo>
                  <a:pt x="6058136" y="2564211"/>
                </a:lnTo>
                <a:lnTo>
                  <a:pt x="6065314" y="2694512"/>
                </a:lnTo>
                <a:lnTo>
                  <a:pt x="6072027" y="2826871"/>
                </a:lnTo>
                <a:lnTo>
                  <a:pt x="6076427" y="2959917"/>
                </a:lnTo>
                <a:lnTo>
                  <a:pt x="6080363" y="3095705"/>
                </a:lnTo>
                <a:lnTo>
                  <a:pt x="6084530" y="3232865"/>
                </a:lnTo>
                <a:lnTo>
                  <a:pt x="6087308" y="3372768"/>
                </a:lnTo>
                <a:lnTo>
                  <a:pt x="6087308" y="3514043"/>
                </a:lnTo>
                <a:lnTo>
                  <a:pt x="6088698" y="3656689"/>
                </a:lnTo>
                <a:lnTo>
                  <a:pt x="6087308" y="3800707"/>
                </a:lnTo>
                <a:lnTo>
                  <a:pt x="6084530" y="3946783"/>
                </a:lnTo>
                <a:lnTo>
                  <a:pt x="6081983" y="4092858"/>
                </a:lnTo>
                <a:lnTo>
                  <a:pt x="6076427" y="4240991"/>
                </a:lnTo>
                <a:lnTo>
                  <a:pt x="6070639" y="4390495"/>
                </a:lnTo>
                <a:lnTo>
                  <a:pt x="6063924" y="4540000"/>
                </a:lnTo>
                <a:lnTo>
                  <a:pt x="6054432" y="4690876"/>
                </a:lnTo>
                <a:lnTo>
                  <a:pt x="6043086" y="4843123"/>
                </a:lnTo>
                <a:lnTo>
                  <a:pt x="6032204" y="4996057"/>
                </a:lnTo>
                <a:lnTo>
                  <a:pt x="6018313" y="5148990"/>
                </a:lnTo>
                <a:lnTo>
                  <a:pt x="6001642" y="5303981"/>
                </a:lnTo>
                <a:lnTo>
                  <a:pt x="5984972" y="5456914"/>
                </a:lnTo>
                <a:lnTo>
                  <a:pt x="5965754" y="5612591"/>
                </a:lnTo>
                <a:lnTo>
                  <a:pt x="5944685" y="5768953"/>
                </a:lnTo>
                <a:lnTo>
                  <a:pt x="5922459" y="5923258"/>
                </a:lnTo>
                <a:lnTo>
                  <a:pt x="5896527" y="6079621"/>
                </a:lnTo>
                <a:lnTo>
                  <a:pt x="5868743" y="6235297"/>
                </a:lnTo>
                <a:lnTo>
                  <a:pt x="5841190" y="6391660"/>
                </a:lnTo>
                <a:lnTo>
                  <a:pt x="5809008" y="6547336"/>
                </a:lnTo>
                <a:lnTo>
                  <a:pt x="5776130" y="6702327"/>
                </a:lnTo>
                <a:lnTo>
                  <a:pt x="5741633" y="6858002"/>
                </a:lnTo>
                <a:lnTo>
                  <a:pt x="2610464" y="6858002"/>
                </a:lnTo>
                <a:lnTo>
                  <a:pt x="0" y="6858002"/>
                </a:lnTo>
                <a:close/>
              </a:path>
            </a:pathLst>
          </a:custGeom>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AC66CBD-FC59-BE59-2070-B5315E2C8921}"/>
              </a:ext>
            </a:extLst>
          </p:cNvPr>
          <p:cNvSpPr>
            <a:spLocks noGrp="1"/>
          </p:cNvSpPr>
          <p:nvPr>
            <p:ph type="title"/>
          </p:nvPr>
        </p:nvSpPr>
        <p:spPr>
          <a:xfrm>
            <a:off x="900506" y="1118808"/>
            <a:ext cx="4671467" cy="4747683"/>
          </a:xfrm>
        </p:spPr>
        <p:txBody>
          <a:bodyPr anchor="ctr">
            <a:normAutofit/>
          </a:bodyPr>
          <a:lstStyle/>
          <a:p>
            <a:pPr algn="l"/>
            <a:r>
              <a:rPr lang="en-IN" sz="4800" dirty="0"/>
              <a:t>Objectives</a:t>
            </a:r>
          </a:p>
        </p:txBody>
      </p:sp>
      <p:sp>
        <p:nvSpPr>
          <p:cNvPr id="3" name="Content Placeholder 2">
            <a:extLst>
              <a:ext uri="{FF2B5EF4-FFF2-40B4-BE49-F238E27FC236}">
                <a16:creationId xmlns:a16="http://schemas.microsoft.com/office/drawing/2014/main" id="{CE3E25AA-71BA-D0F6-3993-32491BD06DD7}"/>
              </a:ext>
            </a:extLst>
          </p:cNvPr>
          <p:cNvSpPr>
            <a:spLocks noGrp="1"/>
          </p:cNvSpPr>
          <p:nvPr>
            <p:ph idx="1"/>
          </p:nvPr>
        </p:nvSpPr>
        <p:spPr>
          <a:xfrm>
            <a:off x="6498769" y="1118809"/>
            <a:ext cx="5049763" cy="4747681"/>
          </a:xfrm>
          <a:effectLst/>
        </p:spPr>
        <p:txBody>
          <a:bodyPr anchor="ctr">
            <a:normAutofit/>
          </a:bodyPr>
          <a:lstStyle/>
          <a:p>
            <a:pPr marL="0" indent="0">
              <a:buNone/>
            </a:pPr>
            <a:r>
              <a:rPr lang="en-US" dirty="0">
                <a:solidFill>
                  <a:schemeClr val="tx1"/>
                </a:solidFill>
              </a:rPr>
              <a:t> To design a CNN model that classifies facial images as real or fake.</a:t>
            </a:r>
          </a:p>
          <a:p>
            <a:pPr marL="0" indent="0">
              <a:buNone/>
            </a:pPr>
            <a:br>
              <a:rPr lang="en-US" dirty="0">
                <a:solidFill>
                  <a:schemeClr val="tx1"/>
                </a:solidFill>
              </a:rPr>
            </a:br>
            <a:r>
              <a:rPr lang="en-US" dirty="0">
                <a:solidFill>
                  <a:schemeClr val="tx1"/>
                </a:solidFill>
              </a:rPr>
              <a:t> To preprocess images using OpenCV for consistent model inputs.</a:t>
            </a:r>
          </a:p>
          <a:p>
            <a:pPr marL="0" indent="0">
              <a:buNone/>
            </a:pPr>
            <a:br>
              <a:rPr lang="en-US" dirty="0">
                <a:solidFill>
                  <a:schemeClr val="tx1"/>
                </a:solidFill>
              </a:rPr>
            </a:br>
            <a:r>
              <a:rPr lang="en-US" dirty="0">
                <a:solidFill>
                  <a:schemeClr val="tx1"/>
                </a:solidFill>
              </a:rPr>
              <a:t> To evaluate performance using accuracy, confusion matrix, F1 score, and ROC AUC.</a:t>
            </a:r>
          </a:p>
          <a:p>
            <a:pPr marL="0" indent="0">
              <a:buNone/>
            </a:pPr>
            <a:br>
              <a:rPr lang="en-US" dirty="0">
                <a:solidFill>
                  <a:schemeClr val="tx1"/>
                </a:solidFill>
              </a:rPr>
            </a:br>
            <a:r>
              <a:rPr lang="en-US" dirty="0">
                <a:solidFill>
                  <a:schemeClr val="tx1"/>
                </a:solidFill>
              </a:rPr>
              <a:t> To build a complete prediction pipeline for real-time detection.</a:t>
            </a:r>
            <a:endParaRPr lang="en-IN" dirty="0">
              <a:solidFill>
                <a:schemeClr val="tx1"/>
              </a:solidFill>
            </a:endParaRPr>
          </a:p>
        </p:txBody>
      </p:sp>
    </p:spTree>
    <p:extLst>
      <p:ext uri="{BB962C8B-B14F-4D97-AF65-F5344CB8AC3E}">
        <p14:creationId xmlns:p14="http://schemas.microsoft.com/office/powerpoint/2010/main" val="3547097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3766711-9004-4A0C-AFCA-7F52B72A6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C2C796-D371-7EE6-056A-4956DC25840D}"/>
              </a:ext>
            </a:extLst>
          </p:cNvPr>
          <p:cNvSpPr>
            <a:spLocks noGrp="1"/>
          </p:cNvSpPr>
          <p:nvPr>
            <p:ph type="title"/>
          </p:nvPr>
        </p:nvSpPr>
        <p:spPr>
          <a:xfrm>
            <a:off x="913795" y="609600"/>
            <a:ext cx="6003053" cy="970450"/>
          </a:xfrm>
        </p:spPr>
        <p:txBody>
          <a:bodyPr>
            <a:normAutofit/>
          </a:bodyPr>
          <a:lstStyle/>
          <a:p>
            <a:r>
              <a:rPr lang="en-IN">
                <a:ln>
                  <a:solidFill>
                    <a:srgbClr val="404040">
                      <a:alpha val="10000"/>
                    </a:srgbClr>
                  </a:solidFill>
                </a:ln>
                <a:solidFill>
                  <a:srgbClr val="DADADA"/>
                </a:solidFill>
              </a:rPr>
              <a:t>Proposed Methodology</a:t>
            </a:r>
          </a:p>
        </p:txBody>
      </p:sp>
      <p:sp>
        <p:nvSpPr>
          <p:cNvPr id="3" name="Content Placeholder 2">
            <a:extLst>
              <a:ext uri="{FF2B5EF4-FFF2-40B4-BE49-F238E27FC236}">
                <a16:creationId xmlns:a16="http://schemas.microsoft.com/office/drawing/2014/main" id="{F7E7EF98-E6AD-70D5-2BE9-3A859F15DFF4}"/>
              </a:ext>
            </a:extLst>
          </p:cNvPr>
          <p:cNvSpPr>
            <a:spLocks noGrp="1"/>
          </p:cNvSpPr>
          <p:nvPr>
            <p:ph idx="1"/>
          </p:nvPr>
        </p:nvSpPr>
        <p:spPr>
          <a:xfrm>
            <a:off x="913795" y="1732449"/>
            <a:ext cx="6003053" cy="4058751"/>
          </a:xfrm>
        </p:spPr>
        <p:txBody>
          <a:bodyPr anchor="ctr">
            <a:normAutofit/>
          </a:bodyPr>
          <a:lstStyle/>
          <a:p>
            <a:r>
              <a:rPr lang="en-IN" dirty="0">
                <a:ln>
                  <a:solidFill>
                    <a:srgbClr val="404040">
                      <a:alpha val="10000"/>
                    </a:srgbClr>
                  </a:solidFill>
                </a:ln>
                <a:solidFill>
                  <a:srgbClr val="DADADA"/>
                </a:solidFill>
              </a:rPr>
              <a:t>Dataset download from Kaggle (140K Real &amp; Fake Faces)</a:t>
            </a:r>
          </a:p>
          <a:p>
            <a:r>
              <a:rPr lang="en-IN" dirty="0">
                <a:ln>
                  <a:solidFill>
                    <a:srgbClr val="404040">
                      <a:alpha val="10000"/>
                    </a:srgbClr>
                  </a:solidFill>
                </a:ln>
                <a:solidFill>
                  <a:srgbClr val="DADADA"/>
                </a:solidFill>
              </a:rPr>
              <a:t>Image preprocessing using OpenCV</a:t>
            </a:r>
          </a:p>
          <a:p>
            <a:r>
              <a:rPr lang="en-IN" dirty="0">
                <a:ln>
                  <a:solidFill>
                    <a:srgbClr val="404040">
                      <a:alpha val="10000"/>
                    </a:srgbClr>
                  </a:solidFill>
                </a:ln>
                <a:solidFill>
                  <a:srgbClr val="DADADA"/>
                </a:solidFill>
              </a:rPr>
              <a:t>CNN model training with data augmentation</a:t>
            </a:r>
          </a:p>
          <a:p>
            <a:r>
              <a:rPr lang="en-IN" dirty="0">
                <a:ln>
                  <a:solidFill>
                    <a:srgbClr val="404040">
                      <a:alpha val="10000"/>
                    </a:srgbClr>
                  </a:solidFill>
                </a:ln>
                <a:solidFill>
                  <a:srgbClr val="DADADA"/>
                </a:solidFill>
              </a:rPr>
              <a:t>Validation &amp; tuning</a:t>
            </a:r>
          </a:p>
          <a:p>
            <a:r>
              <a:rPr lang="en-IN" dirty="0">
                <a:ln>
                  <a:solidFill>
                    <a:srgbClr val="404040">
                      <a:alpha val="10000"/>
                    </a:srgbClr>
                  </a:solidFill>
                </a:ln>
                <a:solidFill>
                  <a:srgbClr val="DADADA"/>
                </a:solidFill>
              </a:rPr>
              <a:t>Prediction and explainability (occlusion, noise, blur)</a:t>
            </a:r>
          </a:p>
          <a:p>
            <a:r>
              <a:rPr lang="en-IN" dirty="0">
                <a:ln>
                  <a:solidFill>
                    <a:srgbClr val="404040">
                      <a:alpha val="10000"/>
                    </a:srgbClr>
                  </a:solidFill>
                </a:ln>
                <a:solidFill>
                  <a:srgbClr val="DADADA"/>
                </a:solidFill>
              </a:rPr>
              <a:t>Final evaluation and saving the model</a:t>
            </a:r>
          </a:p>
        </p:txBody>
      </p:sp>
      <p:sp>
        <p:nvSpPr>
          <p:cNvPr id="17" name="Rectangle 16">
            <a:extLst>
              <a:ext uri="{FF2B5EF4-FFF2-40B4-BE49-F238E27FC236}">
                <a16:creationId xmlns:a16="http://schemas.microsoft.com/office/drawing/2014/main" id="{29D87990-4B89-42C0-89D8-E13079968B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1978" y="965196"/>
            <a:ext cx="3685394" cy="4781641"/>
          </a:xfrm>
          <a:prstGeom prst="rect">
            <a:avLst/>
          </a:prstGeom>
          <a:solidFill>
            <a:schemeClr val="bg1"/>
          </a:solidFill>
          <a:ln w="190500">
            <a:solidFill>
              <a:srgbClr val="FFFFFF">
                <a:alpha val="6667"/>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diagram of a training&#10;&#10;AI-generated content may be incorrect.">
            <a:extLst>
              <a:ext uri="{FF2B5EF4-FFF2-40B4-BE49-F238E27FC236}">
                <a16:creationId xmlns:a16="http://schemas.microsoft.com/office/drawing/2014/main" id="{E923DDB5-EBB5-B099-8012-14E1EAF6FF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17096" y="1438360"/>
            <a:ext cx="1524536" cy="3835314"/>
          </a:xfrm>
          <a:prstGeom prst="rect">
            <a:avLst/>
          </a:prstGeom>
        </p:spPr>
      </p:pic>
    </p:spTree>
    <p:extLst>
      <p:ext uri="{BB962C8B-B14F-4D97-AF65-F5344CB8AC3E}">
        <p14:creationId xmlns:p14="http://schemas.microsoft.com/office/powerpoint/2010/main" val="1077724860"/>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DE64ACEB-3996-E6DD-E542-1E831253FE77}"/>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AC224410-FF86-4FBB-A05E-61232D4B1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Freeform: Shape 12">
            <a:extLst>
              <a:ext uri="{FF2B5EF4-FFF2-40B4-BE49-F238E27FC236}">
                <a16:creationId xmlns:a16="http://schemas.microsoft.com/office/drawing/2014/main" id="{F3BDD110-869E-4A8C-9250-C7AE5C840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02" y="-2"/>
            <a:ext cx="6088698" cy="6858002"/>
          </a:xfrm>
          <a:custGeom>
            <a:avLst/>
            <a:gdLst>
              <a:gd name="connsiteX0" fmla="*/ 0 w 6088698"/>
              <a:gd name="connsiteY0" fmla="*/ 0 h 6858002"/>
              <a:gd name="connsiteX1" fmla="*/ 2610464 w 6088698"/>
              <a:gd name="connsiteY1" fmla="*/ 0 h 6858002"/>
              <a:gd name="connsiteX2" fmla="*/ 2610464 w 6088698"/>
              <a:gd name="connsiteY2" fmla="*/ 3 h 6858002"/>
              <a:gd name="connsiteX3" fmla="*/ 5749313 w 6088698"/>
              <a:gd name="connsiteY3" fmla="*/ 3 h 6858002"/>
              <a:gd name="connsiteX4" fmla="*/ 5749313 w 6088698"/>
              <a:gd name="connsiteY4" fmla="*/ 4 h 6858002"/>
              <a:gd name="connsiteX5" fmla="*/ 5740011 w 6088698"/>
              <a:gd name="connsiteY5" fmla="*/ 4 h 6858002"/>
              <a:gd name="connsiteX6" fmla="*/ 5748114 w 6088698"/>
              <a:gd name="connsiteY6" fmla="*/ 40466 h 6858002"/>
              <a:gd name="connsiteX7" fmla="*/ 5771963 w 6088698"/>
              <a:gd name="connsiteY7" fmla="*/ 159110 h 6858002"/>
              <a:gd name="connsiteX8" fmla="*/ 5788633 w 6088698"/>
              <a:gd name="connsiteY8" fmla="*/ 245521 h 6858002"/>
              <a:gd name="connsiteX9" fmla="*/ 5806229 w 6088698"/>
              <a:gd name="connsiteY9" fmla="*/ 348391 h 6858002"/>
              <a:gd name="connsiteX10" fmla="*/ 5827299 w 6088698"/>
              <a:gd name="connsiteY10" fmla="*/ 470463 h 6858002"/>
              <a:gd name="connsiteX11" fmla="*/ 5849526 w 6088698"/>
              <a:gd name="connsiteY11" fmla="*/ 605566 h 6858002"/>
              <a:gd name="connsiteX12" fmla="*/ 5872911 w 6088698"/>
              <a:gd name="connsiteY12" fmla="*/ 757813 h 6858002"/>
              <a:gd name="connsiteX13" fmla="*/ 5897684 w 6088698"/>
              <a:gd name="connsiteY13" fmla="*/ 923777 h 6858002"/>
              <a:gd name="connsiteX14" fmla="*/ 5922459 w 6088698"/>
              <a:gd name="connsiteY14" fmla="*/ 1104142 h 6858002"/>
              <a:gd name="connsiteX15" fmla="*/ 5947695 w 6088698"/>
              <a:gd name="connsiteY15" fmla="*/ 1296166 h 6858002"/>
              <a:gd name="connsiteX16" fmla="*/ 5971079 w 6088698"/>
              <a:gd name="connsiteY16" fmla="*/ 1503278 h 6858002"/>
              <a:gd name="connsiteX17" fmla="*/ 5993538 w 6088698"/>
              <a:gd name="connsiteY17" fmla="*/ 1719991 h 6858002"/>
              <a:gd name="connsiteX18" fmla="*/ 6013913 w 6088698"/>
              <a:gd name="connsiteY18" fmla="*/ 1949048 h 6858002"/>
              <a:gd name="connsiteX19" fmla="*/ 6033361 w 6088698"/>
              <a:gd name="connsiteY19" fmla="*/ 2187706 h 6858002"/>
              <a:gd name="connsiteX20" fmla="*/ 6051654 w 6088698"/>
              <a:gd name="connsiteY20" fmla="*/ 2436652 h 6858002"/>
              <a:gd name="connsiteX21" fmla="*/ 6058136 w 6088698"/>
              <a:gd name="connsiteY21" fmla="*/ 2564211 h 6858002"/>
              <a:gd name="connsiteX22" fmla="*/ 6065314 w 6088698"/>
              <a:gd name="connsiteY22" fmla="*/ 2694512 h 6858002"/>
              <a:gd name="connsiteX23" fmla="*/ 6072027 w 6088698"/>
              <a:gd name="connsiteY23" fmla="*/ 2826871 h 6858002"/>
              <a:gd name="connsiteX24" fmla="*/ 6076427 w 6088698"/>
              <a:gd name="connsiteY24" fmla="*/ 2959917 h 6858002"/>
              <a:gd name="connsiteX25" fmla="*/ 6080363 w 6088698"/>
              <a:gd name="connsiteY25" fmla="*/ 3095705 h 6858002"/>
              <a:gd name="connsiteX26" fmla="*/ 6084530 w 6088698"/>
              <a:gd name="connsiteY26" fmla="*/ 3232865 h 6858002"/>
              <a:gd name="connsiteX27" fmla="*/ 6087308 w 6088698"/>
              <a:gd name="connsiteY27" fmla="*/ 3372768 h 6858002"/>
              <a:gd name="connsiteX28" fmla="*/ 6087308 w 6088698"/>
              <a:gd name="connsiteY28" fmla="*/ 3514043 h 6858002"/>
              <a:gd name="connsiteX29" fmla="*/ 6088698 w 6088698"/>
              <a:gd name="connsiteY29" fmla="*/ 3656689 h 6858002"/>
              <a:gd name="connsiteX30" fmla="*/ 6087308 w 6088698"/>
              <a:gd name="connsiteY30" fmla="*/ 3800707 h 6858002"/>
              <a:gd name="connsiteX31" fmla="*/ 6084530 w 6088698"/>
              <a:gd name="connsiteY31" fmla="*/ 3946783 h 6858002"/>
              <a:gd name="connsiteX32" fmla="*/ 6081983 w 6088698"/>
              <a:gd name="connsiteY32" fmla="*/ 4092858 h 6858002"/>
              <a:gd name="connsiteX33" fmla="*/ 6076427 w 6088698"/>
              <a:gd name="connsiteY33" fmla="*/ 4240991 h 6858002"/>
              <a:gd name="connsiteX34" fmla="*/ 6070639 w 6088698"/>
              <a:gd name="connsiteY34" fmla="*/ 4390495 h 6858002"/>
              <a:gd name="connsiteX35" fmla="*/ 6063924 w 6088698"/>
              <a:gd name="connsiteY35" fmla="*/ 4540000 h 6858002"/>
              <a:gd name="connsiteX36" fmla="*/ 6054432 w 6088698"/>
              <a:gd name="connsiteY36" fmla="*/ 4690876 h 6858002"/>
              <a:gd name="connsiteX37" fmla="*/ 6043086 w 6088698"/>
              <a:gd name="connsiteY37" fmla="*/ 4843123 h 6858002"/>
              <a:gd name="connsiteX38" fmla="*/ 6032204 w 6088698"/>
              <a:gd name="connsiteY38" fmla="*/ 4996057 h 6858002"/>
              <a:gd name="connsiteX39" fmla="*/ 6018313 w 6088698"/>
              <a:gd name="connsiteY39" fmla="*/ 5148990 h 6858002"/>
              <a:gd name="connsiteX40" fmla="*/ 6001642 w 6088698"/>
              <a:gd name="connsiteY40" fmla="*/ 5303981 h 6858002"/>
              <a:gd name="connsiteX41" fmla="*/ 5984972 w 6088698"/>
              <a:gd name="connsiteY41" fmla="*/ 5456914 h 6858002"/>
              <a:gd name="connsiteX42" fmla="*/ 5965754 w 6088698"/>
              <a:gd name="connsiteY42" fmla="*/ 5612591 h 6858002"/>
              <a:gd name="connsiteX43" fmla="*/ 5944685 w 6088698"/>
              <a:gd name="connsiteY43" fmla="*/ 5768953 h 6858002"/>
              <a:gd name="connsiteX44" fmla="*/ 5922459 w 6088698"/>
              <a:gd name="connsiteY44" fmla="*/ 5923258 h 6858002"/>
              <a:gd name="connsiteX45" fmla="*/ 5896527 w 6088698"/>
              <a:gd name="connsiteY45" fmla="*/ 6079621 h 6858002"/>
              <a:gd name="connsiteX46" fmla="*/ 5868743 w 6088698"/>
              <a:gd name="connsiteY46" fmla="*/ 6235297 h 6858002"/>
              <a:gd name="connsiteX47" fmla="*/ 5841190 w 6088698"/>
              <a:gd name="connsiteY47" fmla="*/ 6391660 h 6858002"/>
              <a:gd name="connsiteX48" fmla="*/ 5809008 w 6088698"/>
              <a:gd name="connsiteY48" fmla="*/ 6547336 h 6858002"/>
              <a:gd name="connsiteX49" fmla="*/ 5776130 w 6088698"/>
              <a:gd name="connsiteY49" fmla="*/ 6702327 h 6858002"/>
              <a:gd name="connsiteX50" fmla="*/ 5741633 w 6088698"/>
              <a:gd name="connsiteY50" fmla="*/ 6858002 h 6858002"/>
              <a:gd name="connsiteX51" fmla="*/ 2610464 w 6088698"/>
              <a:gd name="connsiteY51" fmla="*/ 6858002 h 6858002"/>
              <a:gd name="connsiteX52" fmla="*/ 0 w 6088698"/>
              <a:gd name="connsiteY52" fmla="*/ 6858002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088698" h="6858002">
                <a:moveTo>
                  <a:pt x="0" y="0"/>
                </a:moveTo>
                <a:lnTo>
                  <a:pt x="2610464" y="0"/>
                </a:lnTo>
                <a:lnTo>
                  <a:pt x="2610464" y="3"/>
                </a:lnTo>
                <a:lnTo>
                  <a:pt x="5749313" y="3"/>
                </a:lnTo>
                <a:lnTo>
                  <a:pt x="5749313" y="4"/>
                </a:lnTo>
                <a:lnTo>
                  <a:pt x="5740011" y="4"/>
                </a:lnTo>
                <a:lnTo>
                  <a:pt x="5748114" y="40466"/>
                </a:lnTo>
                <a:lnTo>
                  <a:pt x="5771963" y="159110"/>
                </a:lnTo>
                <a:lnTo>
                  <a:pt x="5788633" y="245521"/>
                </a:lnTo>
                <a:lnTo>
                  <a:pt x="5806229" y="348391"/>
                </a:lnTo>
                <a:lnTo>
                  <a:pt x="5827299" y="470463"/>
                </a:lnTo>
                <a:lnTo>
                  <a:pt x="5849526" y="605566"/>
                </a:lnTo>
                <a:lnTo>
                  <a:pt x="5872911" y="757813"/>
                </a:lnTo>
                <a:lnTo>
                  <a:pt x="5897684" y="923777"/>
                </a:lnTo>
                <a:lnTo>
                  <a:pt x="5922459" y="1104142"/>
                </a:lnTo>
                <a:lnTo>
                  <a:pt x="5947695" y="1296166"/>
                </a:lnTo>
                <a:lnTo>
                  <a:pt x="5971079" y="1503278"/>
                </a:lnTo>
                <a:lnTo>
                  <a:pt x="5993538" y="1719991"/>
                </a:lnTo>
                <a:lnTo>
                  <a:pt x="6013913" y="1949048"/>
                </a:lnTo>
                <a:lnTo>
                  <a:pt x="6033361" y="2187706"/>
                </a:lnTo>
                <a:lnTo>
                  <a:pt x="6051654" y="2436652"/>
                </a:lnTo>
                <a:lnTo>
                  <a:pt x="6058136" y="2564211"/>
                </a:lnTo>
                <a:lnTo>
                  <a:pt x="6065314" y="2694512"/>
                </a:lnTo>
                <a:lnTo>
                  <a:pt x="6072027" y="2826871"/>
                </a:lnTo>
                <a:lnTo>
                  <a:pt x="6076427" y="2959917"/>
                </a:lnTo>
                <a:lnTo>
                  <a:pt x="6080363" y="3095705"/>
                </a:lnTo>
                <a:lnTo>
                  <a:pt x="6084530" y="3232865"/>
                </a:lnTo>
                <a:lnTo>
                  <a:pt x="6087308" y="3372768"/>
                </a:lnTo>
                <a:lnTo>
                  <a:pt x="6087308" y="3514043"/>
                </a:lnTo>
                <a:lnTo>
                  <a:pt x="6088698" y="3656689"/>
                </a:lnTo>
                <a:lnTo>
                  <a:pt x="6087308" y="3800707"/>
                </a:lnTo>
                <a:lnTo>
                  <a:pt x="6084530" y="3946783"/>
                </a:lnTo>
                <a:lnTo>
                  <a:pt x="6081983" y="4092858"/>
                </a:lnTo>
                <a:lnTo>
                  <a:pt x="6076427" y="4240991"/>
                </a:lnTo>
                <a:lnTo>
                  <a:pt x="6070639" y="4390495"/>
                </a:lnTo>
                <a:lnTo>
                  <a:pt x="6063924" y="4540000"/>
                </a:lnTo>
                <a:lnTo>
                  <a:pt x="6054432" y="4690876"/>
                </a:lnTo>
                <a:lnTo>
                  <a:pt x="6043086" y="4843123"/>
                </a:lnTo>
                <a:lnTo>
                  <a:pt x="6032204" y="4996057"/>
                </a:lnTo>
                <a:lnTo>
                  <a:pt x="6018313" y="5148990"/>
                </a:lnTo>
                <a:lnTo>
                  <a:pt x="6001642" y="5303981"/>
                </a:lnTo>
                <a:lnTo>
                  <a:pt x="5984972" y="5456914"/>
                </a:lnTo>
                <a:lnTo>
                  <a:pt x="5965754" y="5612591"/>
                </a:lnTo>
                <a:lnTo>
                  <a:pt x="5944685" y="5768953"/>
                </a:lnTo>
                <a:lnTo>
                  <a:pt x="5922459" y="5923258"/>
                </a:lnTo>
                <a:lnTo>
                  <a:pt x="5896527" y="6079621"/>
                </a:lnTo>
                <a:lnTo>
                  <a:pt x="5868743" y="6235297"/>
                </a:lnTo>
                <a:lnTo>
                  <a:pt x="5841190" y="6391660"/>
                </a:lnTo>
                <a:lnTo>
                  <a:pt x="5809008" y="6547336"/>
                </a:lnTo>
                <a:lnTo>
                  <a:pt x="5776130" y="6702327"/>
                </a:lnTo>
                <a:lnTo>
                  <a:pt x="5741633" y="6858002"/>
                </a:lnTo>
                <a:lnTo>
                  <a:pt x="2610464" y="6858002"/>
                </a:lnTo>
                <a:lnTo>
                  <a:pt x="0" y="6858002"/>
                </a:lnTo>
                <a:close/>
              </a:path>
            </a:pathLst>
          </a:custGeom>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CA53CD9-7AE2-E988-A006-5F40AF83C24A}"/>
              </a:ext>
            </a:extLst>
          </p:cNvPr>
          <p:cNvSpPr>
            <a:spLocks noGrp="1"/>
          </p:cNvSpPr>
          <p:nvPr>
            <p:ph type="title"/>
          </p:nvPr>
        </p:nvSpPr>
        <p:spPr>
          <a:xfrm>
            <a:off x="900506" y="1118808"/>
            <a:ext cx="4671467" cy="4747683"/>
          </a:xfrm>
        </p:spPr>
        <p:txBody>
          <a:bodyPr anchor="ctr">
            <a:normAutofit/>
          </a:bodyPr>
          <a:lstStyle/>
          <a:p>
            <a:pPr algn="l"/>
            <a:r>
              <a:rPr lang="en-IN" sz="4800"/>
              <a:t>Dataset Description</a:t>
            </a:r>
          </a:p>
        </p:txBody>
      </p:sp>
      <p:sp>
        <p:nvSpPr>
          <p:cNvPr id="3" name="Content Placeholder 2">
            <a:extLst>
              <a:ext uri="{FF2B5EF4-FFF2-40B4-BE49-F238E27FC236}">
                <a16:creationId xmlns:a16="http://schemas.microsoft.com/office/drawing/2014/main" id="{EC3DE0EB-3263-237D-B895-3202DD46F1CD}"/>
              </a:ext>
            </a:extLst>
          </p:cNvPr>
          <p:cNvSpPr>
            <a:spLocks noGrp="1"/>
          </p:cNvSpPr>
          <p:nvPr>
            <p:ph idx="1"/>
          </p:nvPr>
        </p:nvSpPr>
        <p:spPr>
          <a:xfrm>
            <a:off x="6498769" y="1118809"/>
            <a:ext cx="5458233" cy="4747681"/>
          </a:xfrm>
          <a:effectLst/>
        </p:spPr>
        <p:txBody>
          <a:bodyPr anchor="ctr">
            <a:normAutofit/>
          </a:bodyPr>
          <a:lstStyle/>
          <a:p>
            <a:pPr marL="0" indent="0">
              <a:buNone/>
            </a:pPr>
            <a:r>
              <a:rPr lang="en-US" b="1" dirty="0">
                <a:solidFill>
                  <a:schemeClr val="tx1"/>
                </a:solidFill>
              </a:rPr>
              <a:t>                    Dataset Used</a:t>
            </a:r>
            <a:br>
              <a:rPr lang="en-US" dirty="0">
                <a:solidFill>
                  <a:schemeClr val="tx1"/>
                </a:solidFill>
              </a:rPr>
            </a:br>
            <a:r>
              <a:rPr lang="en-US" dirty="0">
                <a:solidFill>
                  <a:schemeClr val="tx1"/>
                </a:solidFill>
              </a:rPr>
              <a:t>Kaggle – “140K Real and Fake Faces”</a:t>
            </a:r>
          </a:p>
          <a:p>
            <a:pPr marL="0" indent="0">
              <a:buNone/>
            </a:pPr>
            <a:br>
              <a:rPr lang="en-US" dirty="0">
                <a:solidFill>
                  <a:schemeClr val="tx1"/>
                </a:solidFill>
              </a:rPr>
            </a:br>
            <a:r>
              <a:rPr lang="en-US" dirty="0">
                <a:solidFill>
                  <a:schemeClr val="tx1"/>
                </a:solidFill>
              </a:rPr>
              <a:t>Real images: High-quality actual human faces.</a:t>
            </a:r>
            <a:br>
              <a:rPr lang="en-US" dirty="0">
                <a:solidFill>
                  <a:schemeClr val="tx1"/>
                </a:solidFill>
              </a:rPr>
            </a:br>
            <a:r>
              <a:rPr lang="en-US" dirty="0">
                <a:solidFill>
                  <a:schemeClr val="tx1"/>
                </a:solidFill>
              </a:rPr>
              <a:t>Fake images: GAN-generated synthetic faces.</a:t>
            </a:r>
            <a:br>
              <a:rPr lang="en-US" dirty="0">
                <a:solidFill>
                  <a:schemeClr val="tx1"/>
                </a:solidFill>
              </a:rPr>
            </a:br>
            <a:r>
              <a:rPr lang="en-US" dirty="0">
                <a:solidFill>
                  <a:schemeClr val="tx1"/>
                </a:solidFill>
              </a:rPr>
              <a:t>Balanced sampling of real and fake images used for training.</a:t>
            </a:r>
            <a:endParaRPr lang="en-IN" dirty="0">
              <a:solidFill>
                <a:schemeClr val="tx1"/>
              </a:solidFill>
            </a:endParaRPr>
          </a:p>
        </p:txBody>
      </p:sp>
    </p:spTree>
    <p:extLst>
      <p:ext uri="{BB962C8B-B14F-4D97-AF65-F5344CB8AC3E}">
        <p14:creationId xmlns:p14="http://schemas.microsoft.com/office/powerpoint/2010/main" val="13426362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D56B1BE1-8394-C15A-544F-82F09B2593D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8492F8-BBC9-A4D8-AC2C-0D2FBA105CDE}"/>
              </a:ext>
            </a:extLst>
          </p:cNvPr>
          <p:cNvSpPr>
            <a:spLocks noGrp="1"/>
          </p:cNvSpPr>
          <p:nvPr>
            <p:ph idx="1"/>
          </p:nvPr>
        </p:nvSpPr>
        <p:spPr>
          <a:xfrm>
            <a:off x="4803494" y="2373976"/>
            <a:ext cx="7388505" cy="3343917"/>
          </a:xfrm>
        </p:spPr>
        <p:txBody>
          <a:bodyPr vert="horz" lIns="91440" tIns="45720" rIns="91440" bIns="45720" rtlCol="0" anchor="t">
            <a:normAutofit fontScale="92500" lnSpcReduction="20000"/>
          </a:bodyPr>
          <a:lstStyle/>
          <a:p>
            <a:pPr marL="0" indent="0">
              <a:buNone/>
            </a:pPr>
            <a:r>
              <a:rPr lang="en-US" b="1" dirty="0"/>
              <a:t> Layers Used:</a:t>
            </a:r>
          </a:p>
          <a:p>
            <a:pPr marL="0" indent="0">
              <a:buNone/>
            </a:pPr>
            <a:br>
              <a:rPr lang="en-US" dirty="0"/>
            </a:br>
            <a:r>
              <a:rPr lang="en-US" dirty="0"/>
              <a:t> Conv2D (features extraction) + MaxPooling (size reduction)</a:t>
            </a:r>
          </a:p>
          <a:p>
            <a:pPr marL="0" indent="0">
              <a:buNone/>
            </a:pPr>
            <a:br>
              <a:rPr lang="en-US" dirty="0"/>
            </a:br>
            <a:r>
              <a:rPr lang="en-US" dirty="0"/>
              <a:t> Batch Normalization (stable and fast training)</a:t>
            </a:r>
          </a:p>
          <a:p>
            <a:pPr marL="0" indent="0">
              <a:buNone/>
            </a:pPr>
            <a:br>
              <a:rPr lang="en-US" dirty="0"/>
            </a:br>
            <a:r>
              <a:rPr lang="en-US" dirty="0"/>
              <a:t> Flatten(2D to 1D vector) + Dense Layers (final decision)</a:t>
            </a:r>
          </a:p>
          <a:p>
            <a:pPr marL="0" indent="0">
              <a:buNone/>
            </a:pPr>
            <a:br>
              <a:rPr lang="en-US" dirty="0"/>
            </a:br>
            <a:r>
              <a:rPr lang="en-US" dirty="0"/>
              <a:t> Dropout for regularization and prevent overfitting</a:t>
            </a:r>
          </a:p>
          <a:p>
            <a:pPr marL="0" indent="0">
              <a:buNone/>
            </a:pPr>
            <a:br>
              <a:rPr lang="en-US" dirty="0"/>
            </a:br>
            <a:r>
              <a:rPr lang="en-US" dirty="0"/>
              <a:t> Sigmoid activation for binary classification</a:t>
            </a:r>
            <a:endParaRPr lang="en-US" dirty="0">
              <a:solidFill>
                <a:schemeClr val="tx1"/>
              </a:solidFill>
            </a:endParaRPr>
          </a:p>
        </p:txBody>
      </p:sp>
      <p:pic>
        <p:nvPicPr>
          <p:cNvPr id="21" name="Picture 20">
            <a:extLst>
              <a:ext uri="{FF2B5EF4-FFF2-40B4-BE49-F238E27FC236}">
                <a16:creationId xmlns:a16="http://schemas.microsoft.com/office/drawing/2014/main" id="{76AAFF90-89E1-46D5-B8B5-3BFDBB92D8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964" r="2807" b="1446"/>
          <a:stretch/>
        </p:blipFill>
        <p:spPr>
          <a:xfrm>
            <a:off x="-10649" y="1"/>
            <a:ext cx="4690532" cy="6858000"/>
          </a:xfrm>
          <a:prstGeom prst="rect">
            <a:avLst/>
          </a:prstGeom>
        </p:spPr>
      </p:pic>
      <p:pic>
        <p:nvPicPr>
          <p:cNvPr id="5" name="Picture 4" descr="A black and white rectangular object with text&#10;&#10;AI-generated content may be incorrect.">
            <a:extLst>
              <a:ext uri="{FF2B5EF4-FFF2-40B4-BE49-F238E27FC236}">
                <a16:creationId xmlns:a16="http://schemas.microsoft.com/office/drawing/2014/main" id="{BC141874-3B24-302C-7343-AF3E7D3B19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0107" y="128586"/>
            <a:ext cx="2698045" cy="6536533"/>
          </a:xfrm>
          <a:prstGeom prst="rect">
            <a:avLst/>
          </a:prstGeom>
        </p:spPr>
      </p:pic>
      <p:sp>
        <p:nvSpPr>
          <p:cNvPr id="6" name="Title 1">
            <a:extLst>
              <a:ext uri="{FF2B5EF4-FFF2-40B4-BE49-F238E27FC236}">
                <a16:creationId xmlns:a16="http://schemas.microsoft.com/office/drawing/2014/main" id="{5F1AFC43-15CF-7AE5-9A81-5A48E59245F3}"/>
              </a:ext>
            </a:extLst>
          </p:cNvPr>
          <p:cNvSpPr>
            <a:spLocks noGrp="1"/>
          </p:cNvSpPr>
          <p:nvPr>
            <p:ph type="title"/>
          </p:nvPr>
        </p:nvSpPr>
        <p:spPr>
          <a:xfrm>
            <a:off x="3122317" y="1403526"/>
            <a:ext cx="10353762" cy="970450"/>
          </a:xfrm>
        </p:spPr>
        <p:txBody>
          <a:bodyPr>
            <a:normAutofit/>
          </a:bodyPr>
          <a:lstStyle/>
          <a:p>
            <a:r>
              <a:rPr lang="en-IN" dirty="0"/>
              <a:t>Model Architecture</a:t>
            </a:r>
          </a:p>
        </p:txBody>
      </p:sp>
    </p:spTree>
    <p:extLst>
      <p:ext uri="{BB962C8B-B14F-4D97-AF65-F5344CB8AC3E}">
        <p14:creationId xmlns:p14="http://schemas.microsoft.com/office/powerpoint/2010/main" val="2439100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347C9FAE-C685-2942-D3D4-216A6AC18B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4B33A6-B209-82E0-3AC4-ED0F2117C15F}"/>
              </a:ext>
            </a:extLst>
          </p:cNvPr>
          <p:cNvSpPr>
            <a:spLocks noGrp="1"/>
          </p:cNvSpPr>
          <p:nvPr>
            <p:ph type="title"/>
          </p:nvPr>
        </p:nvSpPr>
        <p:spPr>
          <a:xfrm>
            <a:off x="5279472" y="609600"/>
            <a:ext cx="5844759" cy="970450"/>
          </a:xfrm>
        </p:spPr>
        <p:txBody>
          <a:bodyPr>
            <a:normAutofit/>
          </a:bodyPr>
          <a:lstStyle/>
          <a:p>
            <a:r>
              <a:rPr lang="en-IN" dirty="0"/>
              <a:t>Training Procedure </a:t>
            </a:r>
          </a:p>
        </p:txBody>
      </p:sp>
      <p:pic>
        <p:nvPicPr>
          <p:cNvPr id="10" name="Picture 9">
            <a:extLst>
              <a:ext uri="{FF2B5EF4-FFF2-40B4-BE49-F238E27FC236}">
                <a16:creationId xmlns:a16="http://schemas.microsoft.com/office/drawing/2014/main" id="{5405F23C-C82E-4181-95EA-321F3D891A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964" r="2807" b="1446"/>
          <a:stretch/>
        </p:blipFill>
        <p:spPr>
          <a:xfrm>
            <a:off x="-10650" y="1"/>
            <a:ext cx="4966697" cy="6858000"/>
          </a:xfrm>
          <a:prstGeom prst="rect">
            <a:avLst/>
          </a:prstGeom>
        </p:spPr>
      </p:pic>
      <p:pic>
        <p:nvPicPr>
          <p:cNvPr id="9" name="Graphic 8" descr="Flowchart">
            <a:extLst>
              <a:ext uri="{FF2B5EF4-FFF2-40B4-BE49-F238E27FC236}">
                <a16:creationId xmlns:a16="http://schemas.microsoft.com/office/drawing/2014/main" id="{034F9D7F-076C-8DB0-0CAC-6693CE67BAA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2815" y="1193554"/>
            <a:ext cx="4003193" cy="4003193"/>
          </a:xfrm>
          <a:prstGeom prst="rect">
            <a:avLst/>
          </a:prstGeom>
        </p:spPr>
      </p:pic>
      <p:sp>
        <p:nvSpPr>
          <p:cNvPr id="3" name="Content Placeholder 2">
            <a:extLst>
              <a:ext uri="{FF2B5EF4-FFF2-40B4-BE49-F238E27FC236}">
                <a16:creationId xmlns:a16="http://schemas.microsoft.com/office/drawing/2014/main" id="{3D7D4913-00D1-0B0F-38B7-C226FBBC330D}"/>
              </a:ext>
            </a:extLst>
          </p:cNvPr>
          <p:cNvSpPr>
            <a:spLocks noGrp="1"/>
          </p:cNvSpPr>
          <p:nvPr>
            <p:ph idx="1"/>
          </p:nvPr>
        </p:nvSpPr>
        <p:spPr>
          <a:xfrm>
            <a:off x="4956047" y="1828801"/>
            <a:ext cx="7235953" cy="3866048"/>
          </a:xfrm>
        </p:spPr>
        <p:txBody>
          <a:bodyPr anchor="ctr">
            <a:normAutofit/>
          </a:bodyPr>
          <a:lstStyle/>
          <a:p>
            <a:pPr marL="0" indent="0">
              <a:buNone/>
            </a:pPr>
            <a:r>
              <a:rPr lang="en-IN" dirty="0"/>
              <a:t>Training performed on Google Colab (T4 GPU)</a:t>
            </a:r>
          </a:p>
          <a:p>
            <a:pPr marL="0" indent="0">
              <a:buNone/>
            </a:pPr>
            <a:br>
              <a:rPr lang="en-IN" dirty="0"/>
            </a:br>
            <a:r>
              <a:rPr lang="en-IN" dirty="0"/>
              <a:t>Data augmentation applied (rotation, flipping, zoom)</a:t>
            </a:r>
          </a:p>
          <a:p>
            <a:pPr marL="0" indent="0">
              <a:buNone/>
            </a:pPr>
            <a:br>
              <a:rPr lang="en-IN" dirty="0"/>
            </a:br>
            <a:r>
              <a:rPr lang="en-IN" dirty="0"/>
              <a:t>Early stopping + </a:t>
            </a:r>
            <a:r>
              <a:rPr lang="en-IN" dirty="0" err="1"/>
              <a:t>ReduceLROnPlateau</a:t>
            </a:r>
            <a:r>
              <a:rPr lang="en-IN" dirty="0"/>
              <a:t> used to avoid overfitting.</a:t>
            </a:r>
          </a:p>
          <a:p>
            <a:pPr marL="0" indent="0">
              <a:buNone/>
            </a:pPr>
            <a:br>
              <a:rPr lang="en-IN" dirty="0"/>
            </a:br>
            <a:r>
              <a:rPr lang="en-IN" dirty="0"/>
              <a:t>Model saved in .</a:t>
            </a:r>
            <a:r>
              <a:rPr lang="en-IN" dirty="0" err="1"/>
              <a:t>keras</a:t>
            </a:r>
            <a:r>
              <a:rPr lang="en-IN" dirty="0"/>
              <a:t> format for deployment</a:t>
            </a:r>
          </a:p>
        </p:txBody>
      </p:sp>
    </p:spTree>
    <p:extLst>
      <p:ext uri="{BB962C8B-B14F-4D97-AF65-F5344CB8AC3E}">
        <p14:creationId xmlns:p14="http://schemas.microsoft.com/office/powerpoint/2010/main" val="36456711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1E68C13E-47A5-A6D9-F7F9-FECEFB36E1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42C62C-5D9C-784D-EF39-760A7124EBC3}"/>
              </a:ext>
            </a:extLst>
          </p:cNvPr>
          <p:cNvSpPr>
            <a:spLocks noGrp="1"/>
          </p:cNvSpPr>
          <p:nvPr>
            <p:ph type="title"/>
          </p:nvPr>
        </p:nvSpPr>
        <p:spPr>
          <a:xfrm>
            <a:off x="5279472" y="609600"/>
            <a:ext cx="5844759" cy="970450"/>
          </a:xfrm>
        </p:spPr>
        <p:txBody>
          <a:bodyPr>
            <a:normAutofit/>
          </a:bodyPr>
          <a:lstStyle/>
          <a:p>
            <a:r>
              <a:rPr lang="en-IN" dirty="0"/>
              <a:t>Testing Procedure</a:t>
            </a:r>
          </a:p>
        </p:txBody>
      </p:sp>
      <p:pic>
        <p:nvPicPr>
          <p:cNvPr id="10" name="Picture 9">
            <a:extLst>
              <a:ext uri="{FF2B5EF4-FFF2-40B4-BE49-F238E27FC236}">
                <a16:creationId xmlns:a16="http://schemas.microsoft.com/office/drawing/2014/main" id="{5405F23C-C82E-4181-95EA-321F3D891A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964" r="2807" b="1446"/>
          <a:stretch/>
        </p:blipFill>
        <p:spPr>
          <a:xfrm>
            <a:off x="-10650" y="1"/>
            <a:ext cx="4966697" cy="6858000"/>
          </a:xfrm>
          <a:prstGeom prst="rect">
            <a:avLst/>
          </a:prstGeom>
        </p:spPr>
      </p:pic>
      <p:pic>
        <p:nvPicPr>
          <p:cNvPr id="7" name="Graphic 6" descr="Test Case">
            <a:extLst>
              <a:ext uri="{FF2B5EF4-FFF2-40B4-BE49-F238E27FC236}">
                <a16:creationId xmlns:a16="http://schemas.microsoft.com/office/drawing/2014/main" id="{B85D2F68-0CCC-3D26-3FD3-C1E2A13B3A9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2815" y="1193554"/>
            <a:ext cx="4003193" cy="4003193"/>
          </a:xfrm>
          <a:prstGeom prst="rect">
            <a:avLst/>
          </a:prstGeom>
        </p:spPr>
      </p:pic>
      <p:sp>
        <p:nvSpPr>
          <p:cNvPr id="3" name="Content Placeholder 2">
            <a:extLst>
              <a:ext uri="{FF2B5EF4-FFF2-40B4-BE49-F238E27FC236}">
                <a16:creationId xmlns:a16="http://schemas.microsoft.com/office/drawing/2014/main" id="{485CC3C6-DFA1-74A8-E35A-137732433FE3}"/>
              </a:ext>
            </a:extLst>
          </p:cNvPr>
          <p:cNvSpPr>
            <a:spLocks noGrp="1"/>
          </p:cNvSpPr>
          <p:nvPr>
            <p:ph idx="1"/>
          </p:nvPr>
        </p:nvSpPr>
        <p:spPr>
          <a:xfrm>
            <a:off x="5279470" y="2010285"/>
            <a:ext cx="6691491" cy="3866048"/>
          </a:xfrm>
        </p:spPr>
        <p:txBody>
          <a:bodyPr anchor="ctr">
            <a:normAutofit/>
          </a:bodyPr>
          <a:lstStyle/>
          <a:p>
            <a:pPr marL="36900" indent="0">
              <a:buNone/>
            </a:pPr>
            <a:r>
              <a:rPr lang="en-US" dirty="0"/>
              <a:t>Test set loaded using </a:t>
            </a:r>
            <a:r>
              <a:rPr lang="en-US" dirty="0" err="1"/>
              <a:t>ImageDataGenerator</a:t>
            </a:r>
            <a:endParaRPr lang="en-US" dirty="0"/>
          </a:p>
          <a:p>
            <a:pPr marL="36900" indent="0">
              <a:buNone/>
            </a:pPr>
            <a:br>
              <a:rPr lang="en-US" dirty="0"/>
            </a:br>
            <a:r>
              <a:rPr lang="en-US" dirty="0"/>
              <a:t>Predictions evaluated using threshold 0.5</a:t>
            </a:r>
          </a:p>
          <a:p>
            <a:pPr marL="36900" indent="0">
              <a:buNone/>
            </a:pPr>
            <a:br>
              <a:rPr lang="en-US" dirty="0"/>
            </a:br>
            <a:r>
              <a:rPr lang="en-US" dirty="0"/>
              <a:t>Model performance measured using:</a:t>
            </a:r>
            <a:br>
              <a:rPr lang="en-US" dirty="0"/>
            </a:br>
            <a:r>
              <a:rPr lang="en-US" dirty="0"/>
              <a:t>  Confusion Matrix</a:t>
            </a:r>
            <a:br>
              <a:rPr lang="en-US" dirty="0"/>
            </a:br>
            <a:r>
              <a:rPr lang="en-US" dirty="0"/>
              <a:t>  Precision, Recall, F1 Score</a:t>
            </a:r>
            <a:br>
              <a:rPr lang="en-US" dirty="0"/>
            </a:br>
            <a:r>
              <a:rPr lang="en-US" dirty="0"/>
              <a:t>  ROC Curve &amp; AUC</a:t>
            </a:r>
          </a:p>
          <a:p>
            <a:pPr marL="36900" indent="0">
              <a:buNone/>
            </a:pPr>
            <a:br>
              <a:rPr lang="en-US" dirty="0"/>
            </a:br>
            <a:r>
              <a:rPr lang="en-US" dirty="0"/>
              <a:t>Explainability applied using occlusion and noise sensitivity</a:t>
            </a:r>
          </a:p>
        </p:txBody>
      </p:sp>
    </p:spTree>
    <p:extLst>
      <p:ext uri="{BB962C8B-B14F-4D97-AF65-F5344CB8AC3E}">
        <p14:creationId xmlns:p14="http://schemas.microsoft.com/office/powerpoint/2010/main" val="29903640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19452-3000-DF4A-F633-2C06CB0E4BBE}"/>
              </a:ext>
            </a:extLst>
          </p:cNvPr>
          <p:cNvSpPr>
            <a:spLocks noGrp="1"/>
          </p:cNvSpPr>
          <p:nvPr>
            <p:ph type="title"/>
          </p:nvPr>
        </p:nvSpPr>
        <p:spPr/>
        <p:txBody>
          <a:bodyPr/>
          <a:lstStyle/>
          <a:p>
            <a:r>
              <a:rPr lang="en-IN" dirty="0"/>
              <a:t>Results (Confusion Matrix)</a:t>
            </a:r>
            <a:endParaRPr lang="en-US" dirty="0"/>
          </a:p>
        </p:txBody>
      </p:sp>
      <p:pic>
        <p:nvPicPr>
          <p:cNvPr id="5" name="Content Placeholder 4" descr="A blue squares with white text&#10;&#10;AI-generated content may be incorrect.">
            <a:extLst>
              <a:ext uri="{FF2B5EF4-FFF2-40B4-BE49-F238E27FC236}">
                <a16:creationId xmlns:a16="http://schemas.microsoft.com/office/drawing/2014/main" id="{B5E7665E-099F-8383-4906-A2632CA7EC8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32376" y="2256065"/>
            <a:ext cx="4527248" cy="3434765"/>
          </a:xfrm>
        </p:spPr>
      </p:pic>
    </p:spTree>
    <p:extLst>
      <p:ext uri="{BB962C8B-B14F-4D97-AF65-F5344CB8AC3E}">
        <p14:creationId xmlns:p14="http://schemas.microsoft.com/office/powerpoint/2010/main" val="21549569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C5325-4A51-AE05-7BE6-440D74D0BCB6}"/>
              </a:ext>
            </a:extLst>
          </p:cNvPr>
          <p:cNvSpPr>
            <a:spLocks noGrp="1"/>
          </p:cNvSpPr>
          <p:nvPr>
            <p:ph type="title"/>
          </p:nvPr>
        </p:nvSpPr>
        <p:spPr/>
        <p:txBody>
          <a:bodyPr/>
          <a:lstStyle/>
          <a:p>
            <a:r>
              <a:rPr lang="en-IN" dirty="0">
                <a:solidFill>
                  <a:schemeClr val="accent1">
                    <a:lumMod val="60000"/>
                    <a:lumOff val="40000"/>
                  </a:schemeClr>
                </a:solidFill>
              </a:rPr>
              <a:t>Results (ROC Curve)</a:t>
            </a:r>
          </a:p>
        </p:txBody>
      </p:sp>
      <p:pic>
        <p:nvPicPr>
          <p:cNvPr id="5" name="Content Placeholder 4" descr="A graph of a curve&#10;&#10;AI-generated content may be incorrect.">
            <a:extLst>
              <a:ext uri="{FF2B5EF4-FFF2-40B4-BE49-F238E27FC236}">
                <a16:creationId xmlns:a16="http://schemas.microsoft.com/office/drawing/2014/main" id="{634171CC-4229-899D-D219-1028683972C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38537" y="1889919"/>
            <a:ext cx="5105400" cy="3743325"/>
          </a:xfrm>
        </p:spPr>
      </p:pic>
      <p:sp>
        <p:nvSpPr>
          <p:cNvPr id="6" name="TextBox 5">
            <a:extLst>
              <a:ext uri="{FF2B5EF4-FFF2-40B4-BE49-F238E27FC236}">
                <a16:creationId xmlns:a16="http://schemas.microsoft.com/office/drawing/2014/main" id="{B83E4DDF-2265-7288-D779-39084BF6B39C}"/>
              </a:ext>
            </a:extLst>
          </p:cNvPr>
          <p:cNvSpPr txBox="1"/>
          <p:nvPr/>
        </p:nvSpPr>
        <p:spPr>
          <a:xfrm>
            <a:off x="3414532" y="5815792"/>
            <a:ext cx="6308203" cy="646331"/>
          </a:xfrm>
          <a:prstGeom prst="rect">
            <a:avLst/>
          </a:prstGeom>
          <a:noFill/>
        </p:spPr>
        <p:txBody>
          <a:bodyPr wrap="square" rtlCol="0">
            <a:spAutoFit/>
          </a:bodyPr>
          <a:lstStyle/>
          <a:p>
            <a:r>
              <a:rPr lang="en-US" dirty="0"/>
              <a:t>AUC = 0.956 indicates the model has strong discriminatory power and detects deepfakes with high accuracy.</a:t>
            </a:r>
            <a:endParaRPr lang="en-IN" dirty="0"/>
          </a:p>
        </p:txBody>
      </p:sp>
    </p:spTree>
    <p:extLst>
      <p:ext uri="{BB962C8B-B14F-4D97-AF65-F5344CB8AC3E}">
        <p14:creationId xmlns:p14="http://schemas.microsoft.com/office/powerpoint/2010/main" val="27249175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5299D-4975-6157-BF7B-2DBE5EFE28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9E36FC-E009-CB2B-81AD-698288340017}"/>
              </a:ext>
            </a:extLst>
          </p:cNvPr>
          <p:cNvSpPr>
            <a:spLocks noGrp="1"/>
          </p:cNvSpPr>
          <p:nvPr>
            <p:ph type="title"/>
          </p:nvPr>
        </p:nvSpPr>
        <p:spPr/>
        <p:txBody>
          <a:bodyPr/>
          <a:lstStyle/>
          <a:p>
            <a:r>
              <a:rPr lang="en-IN" dirty="0">
                <a:solidFill>
                  <a:schemeClr val="accent1">
                    <a:lumMod val="60000"/>
                    <a:lumOff val="40000"/>
                  </a:schemeClr>
                </a:solidFill>
              </a:rPr>
              <a:t>Sample Predictions</a:t>
            </a:r>
          </a:p>
        </p:txBody>
      </p:sp>
      <p:pic>
        <p:nvPicPr>
          <p:cNvPr id="13" name="Content Placeholder 12" descr="A person smiling with her hand on her shoulder&#10;&#10;AI-generated content may be incorrect.">
            <a:extLst>
              <a:ext uri="{FF2B5EF4-FFF2-40B4-BE49-F238E27FC236}">
                <a16:creationId xmlns:a16="http://schemas.microsoft.com/office/drawing/2014/main" id="{20490CA3-8A03-9F7B-9CA0-73A55B499B9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5790" y="1633103"/>
            <a:ext cx="3557023" cy="3758191"/>
          </a:xfrm>
        </p:spPr>
      </p:pic>
      <p:sp>
        <p:nvSpPr>
          <p:cNvPr id="17" name="TextBox 16">
            <a:extLst>
              <a:ext uri="{FF2B5EF4-FFF2-40B4-BE49-F238E27FC236}">
                <a16:creationId xmlns:a16="http://schemas.microsoft.com/office/drawing/2014/main" id="{5DBF615B-2CB9-096E-CBB4-7FDA0A098444}"/>
              </a:ext>
            </a:extLst>
          </p:cNvPr>
          <p:cNvSpPr txBox="1"/>
          <p:nvPr/>
        </p:nvSpPr>
        <p:spPr>
          <a:xfrm>
            <a:off x="1443459" y="5444349"/>
            <a:ext cx="4433830" cy="731684"/>
          </a:xfrm>
          <a:prstGeom prst="rect">
            <a:avLst/>
          </a:prstGeom>
          <a:noFill/>
        </p:spPr>
        <p:txBody>
          <a:bodyPr wrap="square" rtlCol="0">
            <a:spAutoFit/>
          </a:bodyPr>
          <a:lstStyle/>
          <a:p>
            <a:r>
              <a:rPr lang="en-US" sz="1400" b="1" dirty="0"/>
              <a:t>Fake Image (0.79):</a:t>
            </a:r>
            <a:br>
              <a:rPr lang="en-US" sz="1400" dirty="0"/>
            </a:br>
            <a:r>
              <a:rPr lang="en-US" sz="1400" dirty="0"/>
              <a:t>Model detects synthetic facial patterns; high confidence in fake classification.</a:t>
            </a:r>
            <a:endParaRPr lang="en-IN" sz="1400" dirty="0"/>
          </a:p>
        </p:txBody>
      </p:sp>
      <p:sp>
        <p:nvSpPr>
          <p:cNvPr id="18" name="TextBox 17">
            <a:extLst>
              <a:ext uri="{FF2B5EF4-FFF2-40B4-BE49-F238E27FC236}">
                <a16:creationId xmlns:a16="http://schemas.microsoft.com/office/drawing/2014/main" id="{30ABEC66-3D8C-98DC-F0DF-E406FC517BB4}"/>
              </a:ext>
            </a:extLst>
          </p:cNvPr>
          <p:cNvSpPr txBox="1"/>
          <p:nvPr/>
        </p:nvSpPr>
        <p:spPr>
          <a:xfrm>
            <a:off x="7696513" y="5596749"/>
            <a:ext cx="4433830" cy="738664"/>
          </a:xfrm>
          <a:prstGeom prst="rect">
            <a:avLst/>
          </a:prstGeom>
          <a:noFill/>
        </p:spPr>
        <p:txBody>
          <a:bodyPr wrap="square" rtlCol="0">
            <a:spAutoFit/>
          </a:bodyPr>
          <a:lstStyle/>
          <a:p>
            <a:r>
              <a:rPr lang="en-US" sz="1400" b="1" dirty="0"/>
              <a:t>Real Image (0.17):</a:t>
            </a:r>
            <a:br>
              <a:rPr lang="en-US" sz="1400" dirty="0"/>
            </a:br>
            <a:r>
              <a:rPr lang="en-US" sz="1400" dirty="0"/>
              <a:t>Model identifies natural facial features; predicted as real.</a:t>
            </a:r>
          </a:p>
        </p:txBody>
      </p:sp>
      <p:pic>
        <p:nvPicPr>
          <p:cNvPr id="1028" name="Picture 4">
            <a:extLst>
              <a:ext uri="{FF2B5EF4-FFF2-40B4-BE49-F238E27FC236}">
                <a16:creationId xmlns:a16="http://schemas.microsoft.com/office/drawing/2014/main" id="{19A14BC3-FA20-9E96-30E0-745862C669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96513" y="1529574"/>
            <a:ext cx="3705225" cy="3914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9230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39E790BB-4BFB-2A53-3407-4DEA682607BF}"/>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AC224410-FF86-4FBB-A05E-61232D4B1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Freeform: Shape 17">
            <a:extLst>
              <a:ext uri="{FF2B5EF4-FFF2-40B4-BE49-F238E27FC236}">
                <a16:creationId xmlns:a16="http://schemas.microsoft.com/office/drawing/2014/main" id="{F3BDD110-869E-4A8C-9250-C7AE5C840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02" y="-2"/>
            <a:ext cx="6088698" cy="6858002"/>
          </a:xfrm>
          <a:custGeom>
            <a:avLst/>
            <a:gdLst>
              <a:gd name="connsiteX0" fmla="*/ 0 w 6088698"/>
              <a:gd name="connsiteY0" fmla="*/ 0 h 6858002"/>
              <a:gd name="connsiteX1" fmla="*/ 2610464 w 6088698"/>
              <a:gd name="connsiteY1" fmla="*/ 0 h 6858002"/>
              <a:gd name="connsiteX2" fmla="*/ 2610464 w 6088698"/>
              <a:gd name="connsiteY2" fmla="*/ 3 h 6858002"/>
              <a:gd name="connsiteX3" fmla="*/ 5749313 w 6088698"/>
              <a:gd name="connsiteY3" fmla="*/ 3 h 6858002"/>
              <a:gd name="connsiteX4" fmla="*/ 5749313 w 6088698"/>
              <a:gd name="connsiteY4" fmla="*/ 4 h 6858002"/>
              <a:gd name="connsiteX5" fmla="*/ 5740011 w 6088698"/>
              <a:gd name="connsiteY5" fmla="*/ 4 h 6858002"/>
              <a:gd name="connsiteX6" fmla="*/ 5748114 w 6088698"/>
              <a:gd name="connsiteY6" fmla="*/ 40466 h 6858002"/>
              <a:gd name="connsiteX7" fmla="*/ 5771963 w 6088698"/>
              <a:gd name="connsiteY7" fmla="*/ 159110 h 6858002"/>
              <a:gd name="connsiteX8" fmla="*/ 5788633 w 6088698"/>
              <a:gd name="connsiteY8" fmla="*/ 245521 h 6858002"/>
              <a:gd name="connsiteX9" fmla="*/ 5806229 w 6088698"/>
              <a:gd name="connsiteY9" fmla="*/ 348391 h 6858002"/>
              <a:gd name="connsiteX10" fmla="*/ 5827299 w 6088698"/>
              <a:gd name="connsiteY10" fmla="*/ 470463 h 6858002"/>
              <a:gd name="connsiteX11" fmla="*/ 5849526 w 6088698"/>
              <a:gd name="connsiteY11" fmla="*/ 605566 h 6858002"/>
              <a:gd name="connsiteX12" fmla="*/ 5872911 w 6088698"/>
              <a:gd name="connsiteY12" fmla="*/ 757813 h 6858002"/>
              <a:gd name="connsiteX13" fmla="*/ 5897684 w 6088698"/>
              <a:gd name="connsiteY13" fmla="*/ 923777 h 6858002"/>
              <a:gd name="connsiteX14" fmla="*/ 5922459 w 6088698"/>
              <a:gd name="connsiteY14" fmla="*/ 1104142 h 6858002"/>
              <a:gd name="connsiteX15" fmla="*/ 5947695 w 6088698"/>
              <a:gd name="connsiteY15" fmla="*/ 1296166 h 6858002"/>
              <a:gd name="connsiteX16" fmla="*/ 5971079 w 6088698"/>
              <a:gd name="connsiteY16" fmla="*/ 1503278 h 6858002"/>
              <a:gd name="connsiteX17" fmla="*/ 5993538 w 6088698"/>
              <a:gd name="connsiteY17" fmla="*/ 1719991 h 6858002"/>
              <a:gd name="connsiteX18" fmla="*/ 6013913 w 6088698"/>
              <a:gd name="connsiteY18" fmla="*/ 1949048 h 6858002"/>
              <a:gd name="connsiteX19" fmla="*/ 6033361 w 6088698"/>
              <a:gd name="connsiteY19" fmla="*/ 2187706 h 6858002"/>
              <a:gd name="connsiteX20" fmla="*/ 6051654 w 6088698"/>
              <a:gd name="connsiteY20" fmla="*/ 2436652 h 6858002"/>
              <a:gd name="connsiteX21" fmla="*/ 6058136 w 6088698"/>
              <a:gd name="connsiteY21" fmla="*/ 2564211 h 6858002"/>
              <a:gd name="connsiteX22" fmla="*/ 6065314 w 6088698"/>
              <a:gd name="connsiteY22" fmla="*/ 2694512 h 6858002"/>
              <a:gd name="connsiteX23" fmla="*/ 6072027 w 6088698"/>
              <a:gd name="connsiteY23" fmla="*/ 2826871 h 6858002"/>
              <a:gd name="connsiteX24" fmla="*/ 6076427 w 6088698"/>
              <a:gd name="connsiteY24" fmla="*/ 2959917 h 6858002"/>
              <a:gd name="connsiteX25" fmla="*/ 6080363 w 6088698"/>
              <a:gd name="connsiteY25" fmla="*/ 3095705 h 6858002"/>
              <a:gd name="connsiteX26" fmla="*/ 6084530 w 6088698"/>
              <a:gd name="connsiteY26" fmla="*/ 3232865 h 6858002"/>
              <a:gd name="connsiteX27" fmla="*/ 6087308 w 6088698"/>
              <a:gd name="connsiteY27" fmla="*/ 3372768 h 6858002"/>
              <a:gd name="connsiteX28" fmla="*/ 6087308 w 6088698"/>
              <a:gd name="connsiteY28" fmla="*/ 3514043 h 6858002"/>
              <a:gd name="connsiteX29" fmla="*/ 6088698 w 6088698"/>
              <a:gd name="connsiteY29" fmla="*/ 3656689 h 6858002"/>
              <a:gd name="connsiteX30" fmla="*/ 6087308 w 6088698"/>
              <a:gd name="connsiteY30" fmla="*/ 3800707 h 6858002"/>
              <a:gd name="connsiteX31" fmla="*/ 6084530 w 6088698"/>
              <a:gd name="connsiteY31" fmla="*/ 3946783 h 6858002"/>
              <a:gd name="connsiteX32" fmla="*/ 6081983 w 6088698"/>
              <a:gd name="connsiteY32" fmla="*/ 4092858 h 6858002"/>
              <a:gd name="connsiteX33" fmla="*/ 6076427 w 6088698"/>
              <a:gd name="connsiteY33" fmla="*/ 4240991 h 6858002"/>
              <a:gd name="connsiteX34" fmla="*/ 6070639 w 6088698"/>
              <a:gd name="connsiteY34" fmla="*/ 4390495 h 6858002"/>
              <a:gd name="connsiteX35" fmla="*/ 6063924 w 6088698"/>
              <a:gd name="connsiteY35" fmla="*/ 4540000 h 6858002"/>
              <a:gd name="connsiteX36" fmla="*/ 6054432 w 6088698"/>
              <a:gd name="connsiteY36" fmla="*/ 4690876 h 6858002"/>
              <a:gd name="connsiteX37" fmla="*/ 6043086 w 6088698"/>
              <a:gd name="connsiteY37" fmla="*/ 4843123 h 6858002"/>
              <a:gd name="connsiteX38" fmla="*/ 6032204 w 6088698"/>
              <a:gd name="connsiteY38" fmla="*/ 4996057 h 6858002"/>
              <a:gd name="connsiteX39" fmla="*/ 6018313 w 6088698"/>
              <a:gd name="connsiteY39" fmla="*/ 5148990 h 6858002"/>
              <a:gd name="connsiteX40" fmla="*/ 6001642 w 6088698"/>
              <a:gd name="connsiteY40" fmla="*/ 5303981 h 6858002"/>
              <a:gd name="connsiteX41" fmla="*/ 5984972 w 6088698"/>
              <a:gd name="connsiteY41" fmla="*/ 5456914 h 6858002"/>
              <a:gd name="connsiteX42" fmla="*/ 5965754 w 6088698"/>
              <a:gd name="connsiteY42" fmla="*/ 5612591 h 6858002"/>
              <a:gd name="connsiteX43" fmla="*/ 5944685 w 6088698"/>
              <a:gd name="connsiteY43" fmla="*/ 5768953 h 6858002"/>
              <a:gd name="connsiteX44" fmla="*/ 5922459 w 6088698"/>
              <a:gd name="connsiteY44" fmla="*/ 5923258 h 6858002"/>
              <a:gd name="connsiteX45" fmla="*/ 5896527 w 6088698"/>
              <a:gd name="connsiteY45" fmla="*/ 6079621 h 6858002"/>
              <a:gd name="connsiteX46" fmla="*/ 5868743 w 6088698"/>
              <a:gd name="connsiteY46" fmla="*/ 6235297 h 6858002"/>
              <a:gd name="connsiteX47" fmla="*/ 5841190 w 6088698"/>
              <a:gd name="connsiteY47" fmla="*/ 6391660 h 6858002"/>
              <a:gd name="connsiteX48" fmla="*/ 5809008 w 6088698"/>
              <a:gd name="connsiteY48" fmla="*/ 6547336 h 6858002"/>
              <a:gd name="connsiteX49" fmla="*/ 5776130 w 6088698"/>
              <a:gd name="connsiteY49" fmla="*/ 6702327 h 6858002"/>
              <a:gd name="connsiteX50" fmla="*/ 5741633 w 6088698"/>
              <a:gd name="connsiteY50" fmla="*/ 6858002 h 6858002"/>
              <a:gd name="connsiteX51" fmla="*/ 2610464 w 6088698"/>
              <a:gd name="connsiteY51" fmla="*/ 6858002 h 6858002"/>
              <a:gd name="connsiteX52" fmla="*/ 0 w 6088698"/>
              <a:gd name="connsiteY52" fmla="*/ 6858002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088698" h="6858002">
                <a:moveTo>
                  <a:pt x="0" y="0"/>
                </a:moveTo>
                <a:lnTo>
                  <a:pt x="2610464" y="0"/>
                </a:lnTo>
                <a:lnTo>
                  <a:pt x="2610464" y="3"/>
                </a:lnTo>
                <a:lnTo>
                  <a:pt x="5749313" y="3"/>
                </a:lnTo>
                <a:lnTo>
                  <a:pt x="5749313" y="4"/>
                </a:lnTo>
                <a:lnTo>
                  <a:pt x="5740011" y="4"/>
                </a:lnTo>
                <a:lnTo>
                  <a:pt x="5748114" y="40466"/>
                </a:lnTo>
                <a:lnTo>
                  <a:pt x="5771963" y="159110"/>
                </a:lnTo>
                <a:lnTo>
                  <a:pt x="5788633" y="245521"/>
                </a:lnTo>
                <a:lnTo>
                  <a:pt x="5806229" y="348391"/>
                </a:lnTo>
                <a:lnTo>
                  <a:pt x="5827299" y="470463"/>
                </a:lnTo>
                <a:lnTo>
                  <a:pt x="5849526" y="605566"/>
                </a:lnTo>
                <a:lnTo>
                  <a:pt x="5872911" y="757813"/>
                </a:lnTo>
                <a:lnTo>
                  <a:pt x="5897684" y="923777"/>
                </a:lnTo>
                <a:lnTo>
                  <a:pt x="5922459" y="1104142"/>
                </a:lnTo>
                <a:lnTo>
                  <a:pt x="5947695" y="1296166"/>
                </a:lnTo>
                <a:lnTo>
                  <a:pt x="5971079" y="1503278"/>
                </a:lnTo>
                <a:lnTo>
                  <a:pt x="5993538" y="1719991"/>
                </a:lnTo>
                <a:lnTo>
                  <a:pt x="6013913" y="1949048"/>
                </a:lnTo>
                <a:lnTo>
                  <a:pt x="6033361" y="2187706"/>
                </a:lnTo>
                <a:lnTo>
                  <a:pt x="6051654" y="2436652"/>
                </a:lnTo>
                <a:lnTo>
                  <a:pt x="6058136" y="2564211"/>
                </a:lnTo>
                <a:lnTo>
                  <a:pt x="6065314" y="2694512"/>
                </a:lnTo>
                <a:lnTo>
                  <a:pt x="6072027" y="2826871"/>
                </a:lnTo>
                <a:lnTo>
                  <a:pt x="6076427" y="2959917"/>
                </a:lnTo>
                <a:lnTo>
                  <a:pt x="6080363" y="3095705"/>
                </a:lnTo>
                <a:lnTo>
                  <a:pt x="6084530" y="3232865"/>
                </a:lnTo>
                <a:lnTo>
                  <a:pt x="6087308" y="3372768"/>
                </a:lnTo>
                <a:lnTo>
                  <a:pt x="6087308" y="3514043"/>
                </a:lnTo>
                <a:lnTo>
                  <a:pt x="6088698" y="3656689"/>
                </a:lnTo>
                <a:lnTo>
                  <a:pt x="6087308" y="3800707"/>
                </a:lnTo>
                <a:lnTo>
                  <a:pt x="6084530" y="3946783"/>
                </a:lnTo>
                <a:lnTo>
                  <a:pt x="6081983" y="4092858"/>
                </a:lnTo>
                <a:lnTo>
                  <a:pt x="6076427" y="4240991"/>
                </a:lnTo>
                <a:lnTo>
                  <a:pt x="6070639" y="4390495"/>
                </a:lnTo>
                <a:lnTo>
                  <a:pt x="6063924" y="4540000"/>
                </a:lnTo>
                <a:lnTo>
                  <a:pt x="6054432" y="4690876"/>
                </a:lnTo>
                <a:lnTo>
                  <a:pt x="6043086" y="4843123"/>
                </a:lnTo>
                <a:lnTo>
                  <a:pt x="6032204" y="4996057"/>
                </a:lnTo>
                <a:lnTo>
                  <a:pt x="6018313" y="5148990"/>
                </a:lnTo>
                <a:lnTo>
                  <a:pt x="6001642" y="5303981"/>
                </a:lnTo>
                <a:lnTo>
                  <a:pt x="5984972" y="5456914"/>
                </a:lnTo>
                <a:lnTo>
                  <a:pt x="5965754" y="5612591"/>
                </a:lnTo>
                <a:lnTo>
                  <a:pt x="5944685" y="5768953"/>
                </a:lnTo>
                <a:lnTo>
                  <a:pt x="5922459" y="5923258"/>
                </a:lnTo>
                <a:lnTo>
                  <a:pt x="5896527" y="6079621"/>
                </a:lnTo>
                <a:lnTo>
                  <a:pt x="5868743" y="6235297"/>
                </a:lnTo>
                <a:lnTo>
                  <a:pt x="5841190" y="6391660"/>
                </a:lnTo>
                <a:lnTo>
                  <a:pt x="5809008" y="6547336"/>
                </a:lnTo>
                <a:lnTo>
                  <a:pt x="5776130" y="6702327"/>
                </a:lnTo>
                <a:lnTo>
                  <a:pt x="5741633" y="6858002"/>
                </a:lnTo>
                <a:lnTo>
                  <a:pt x="2610464" y="6858002"/>
                </a:lnTo>
                <a:lnTo>
                  <a:pt x="0" y="6858002"/>
                </a:lnTo>
                <a:close/>
              </a:path>
            </a:pathLst>
          </a:custGeom>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7607C4D-1878-4A10-5887-30AEFDF251E3}"/>
              </a:ext>
            </a:extLst>
          </p:cNvPr>
          <p:cNvSpPr>
            <a:spLocks noGrp="1"/>
          </p:cNvSpPr>
          <p:nvPr>
            <p:ph type="title"/>
          </p:nvPr>
        </p:nvSpPr>
        <p:spPr>
          <a:xfrm>
            <a:off x="900506" y="1118808"/>
            <a:ext cx="4671467" cy="4747683"/>
          </a:xfrm>
        </p:spPr>
        <p:txBody>
          <a:bodyPr anchor="ctr">
            <a:normAutofit/>
          </a:bodyPr>
          <a:lstStyle/>
          <a:p>
            <a:pPr algn="l"/>
            <a:r>
              <a:rPr lang="en-IN" sz="4800"/>
              <a:t>Outcome</a:t>
            </a:r>
          </a:p>
        </p:txBody>
      </p:sp>
      <p:sp>
        <p:nvSpPr>
          <p:cNvPr id="3" name="Content Placeholder 2">
            <a:extLst>
              <a:ext uri="{FF2B5EF4-FFF2-40B4-BE49-F238E27FC236}">
                <a16:creationId xmlns:a16="http://schemas.microsoft.com/office/drawing/2014/main" id="{427E127C-4CE9-22CB-91AA-FDC434456713}"/>
              </a:ext>
            </a:extLst>
          </p:cNvPr>
          <p:cNvSpPr>
            <a:spLocks noGrp="1"/>
          </p:cNvSpPr>
          <p:nvPr>
            <p:ph idx="1"/>
          </p:nvPr>
        </p:nvSpPr>
        <p:spPr>
          <a:xfrm>
            <a:off x="6498769" y="1118809"/>
            <a:ext cx="5049763" cy="4747681"/>
          </a:xfrm>
          <a:effectLst/>
        </p:spPr>
        <p:txBody>
          <a:bodyPr anchor="ctr">
            <a:normAutofit/>
          </a:bodyPr>
          <a:lstStyle/>
          <a:p>
            <a:pPr marL="36900" indent="0">
              <a:lnSpc>
                <a:spcPct val="90000"/>
              </a:lnSpc>
              <a:buNone/>
            </a:pPr>
            <a:endParaRPr lang="en-US" sz="1700" b="1" dirty="0">
              <a:solidFill>
                <a:schemeClr val="tx1"/>
              </a:solidFill>
            </a:endParaRPr>
          </a:p>
          <a:p>
            <a:pPr marL="36900" indent="0">
              <a:lnSpc>
                <a:spcPct val="90000"/>
              </a:lnSpc>
              <a:buNone/>
            </a:pPr>
            <a:r>
              <a:rPr lang="en-US" sz="1700" b="1" dirty="0">
                <a:solidFill>
                  <a:schemeClr val="tx1"/>
                </a:solidFill>
              </a:rPr>
              <a:t>Current Outcome</a:t>
            </a:r>
          </a:p>
          <a:p>
            <a:pPr>
              <a:lnSpc>
                <a:spcPct val="90000"/>
              </a:lnSpc>
            </a:pPr>
            <a:r>
              <a:rPr lang="en-US" sz="1700" dirty="0">
                <a:solidFill>
                  <a:schemeClr val="tx1"/>
                </a:solidFill>
              </a:rPr>
              <a:t>Developed a working deepfake detection model</a:t>
            </a:r>
          </a:p>
          <a:p>
            <a:pPr>
              <a:lnSpc>
                <a:spcPct val="90000"/>
              </a:lnSpc>
            </a:pPr>
            <a:r>
              <a:rPr lang="en-US" sz="1700" dirty="0">
                <a:solidFill>
                  <a:schemeClr val="tx1"/>
                </a:solidFill>
              </a:rPr>
              <a:t>Achieved reliable performance using CNN</a:t>
            </a:r>
          </a:p>
          <a:p>
            <a:pPr>
              <a:lnSpc>
                <a:spcPct val="90000"/>
              </a:lnSpc>
            </a:pPr>
            <a:r>
              <a:rPr lang="en-US" sz="1700" dirty="0">
                <a:solidFill>
                  <a:schemeClr val="tx1"/>
                </a:solidFill>
              </a:rPr>
              <a:t>Implemented prediction pipeline for image-based detection</a:t>
            </a:r>
          </a:p>
          <a:p>
            <a:pPr marL="36900" indent="0">
              <a:lnSpc>
                <a:spcPct val="90000"/>
              </a:lnSpc>
              <a:buNone/>
            </a:pPr>
            <a:endParaRPr lang="en-US" sz="1700" dirty="0">
              <a:solidFill>
                <a:schemeClr val="tx1"/>
              </a:solidFill>
            </a:endParaRPr>
          </a:p>
          <a:p>
            <a:pPr marL="36900" indent="0">
              <a:lnSpc>
                <a:spcPct val="90000"/>
              </a:lnSpc>
              <a:buNone/>
            </a:pPr>
            <a:r>
              <a:rPr lang="en-US" sz="1700" b="1" dirty="0">
                <a:solidFill>
                  <a:schemeClr val="tx1"/>
                </a:solidFill>
              </a:rPr>
              <a:t>Future Outcome</a:t>
            </a:r>
          </a:p>
          <a:p>
            <a:pPr>
              <a:lnSpc>
                <a:spcPct val="90000"/>
              </a:lnSpc>
            </a:pPr>
            <a:r>
              <a:rPr lang="en-US" sz="1700" b="1" dirty="0">
                <a:solidFill>
                  <a:schemeClr val="tx1"/>
                </a:solidFill>
              </a:rPr>
              <a:t>Real-time deployment of the model</a:t>
            </a:r>
            <a:endParaRPr lang="en-US" sz="1700" dirty="0">
              <a:solidFill>
                <a:schemeClr val="tx1"/>
              </a:solidFill>
            </a:endParaRPr>
          </a:p>
          <a:p>
            <a:pPr>
              <a:lnSpc>
                <a:spcPct val="90000"/>
              </a:lnSpc>
            </a:pPr>
            <a:r>
              <a:rPr lang="en-US" sz="1700" dirty="0">
                <a:solidFill>
                  <a:schemeClr val="tx1"/>
                </a:solidFill>
              </a:rPr>
              <a:t>Build a simple interface for live deepfake detection</a:t>
            </a:r>
          </a:p>
          <a:p>
            <a:pPr>
              <a:lnSpc>
                <a:spcPct val="90000"/>
              </a:lnSpc>
            </a:pPr>
            <a:r>
              <a:rPr lang="en-US" sz="1700" dirty="0">
                <a:solidFill>
                  <a:schemeClr val="tx1"/>
                </a:solidFill>
              </a:rPr>
              <a:t>Optimize model for fast and lightweight execution</a:t>
            </a:r>
          </a:p>
        </p:txBody>
      </p:sp>
    </p:spTree>
    <p:extLst>
      <p:ext uri="{BB962C8B-B14F-4D97-AF65-F5344CB8AC3E}">
        <p14:creationId xmlns:p14="http://schemas.microsoft.com/office/powerpoint/2010/main" val="8770105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3E1EE7F3-3FA6-2C72-16B3-E9B46E2AAB17}"/>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AC224410-FF86-4FBB-A05E-61232D4B1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Freeform: Shape 16">
            <a:extLst>
              <a:ext uri="{FF2B5EF4-FFF2-40B4-BE49-F238E27FC236}">
                <a16:creationId xmlns:a16="http://schemas.microsoft.com/office/drawing/2014/main" id="{F3BDD110-869E-4A8C-9250-C7AE5C840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02" y="-2"/>
            <a:ext cx="6088698" cy="6858002"/>
          </a:xfrm>
          <a:custGeom>
            <a:avLst/>
            <a:gdLst>
              <a:gd name="connsiteX0" fmla="*/ 0 w 6088698"/>
              <a:gd name="connsiteY0" fmla="*/ 0 h 6858002"/>
              <a:gd name="connsiteX1" fmla="*/ 2610464 w 6088698"/>
              <a:gd name="connsiteY1" fmla="*/ 0 h 6858002"/>
              <a:gd name="connsiteX2" fmla="*/ 2610464 w 6088698"/>
              <a:gd name="connsiteY2" fmla="*/ 3 h 6858002"/>
              <a:gd name="connsiteX3" fmla="*/ 5749313 w 6088698"/>
              <a:gd name="connsiteY3" fmla="*/ 3 h 6858002"/>
              <a:gd name="connsiteX4" fmla="*/ 5749313 w 6088698"/>
              <a:gd name="connsiteY4" fmla="*/ 4 h 6858002"/>
              <a:gd name="connsiteX5" fmla="*/ 5740011 w 6088698"/>
              <a:gd name="connsiteY5" fmla="*/ 4 h 6858002"/>
              <a:gd name="connsiteX6" fmla="*/ 5748114 w 6088698"/>
              <a:gd name="connsiteY6" fmla="*/ 40466 h 6858002"/>
              <a:gd name="connsiteX7" fmla="*/ 5771963 w 6088698"/>
              <a:gd name="connsiteY7" fmla="*/ 159110 h 6858002"/>
              <a:gd name="connsiteX8" fmla="*/ 5788633 w 6088698"/>
              <a:gd name="connsiteY8" fmla="*/ 245521 h 6858002"/>
              <a:gd name="connsiteX9" fmla="*/ 5806229 w 6088698"/>
              <a:gd name="connsiteY9" fmla="*/ 348391 h 6858002"/>
              <a:gd name="connsiteX10" fmla="*/ 5827299 w 6088698"/>
              <a:gd name="connsiteY10" fmla="*/ 470463 h 6858002"/>
              <a:gd name="connsiteX11" fmla="*/ 5849526 w 6088698"/>
              <a:gd name="connsiteY11" fmla="*/ 605566 h 6858002"/>
              <a:gd name="connsiteX12" fmla="*/ 5872911 w 6088698"/>
              <a:gd name="connsiteY12" fmla="*/ 757813 h 6858002"/>
              <a:gd name="connsiteX13" fmla="*/ 5897684 w 6088698"/>
              <a:gd name="connsiteY13" fmla="*/ 923777 h 6858002"/>
              <a:gd name="connsiteX14" fmla="*/ 5922459 w 6088698"/>
              <a:gd name="connsiteY14" fmla="*/ 1104142 h 6858002"/>
              <a:gd name="connsiteX15" fmla="*/ 5947695 w 6088698"/>
              <a:gd name="connsiteY15" fmla="*/ 1296166 h 6858002"/>
              <a:gd name="connsiteX16" fmla="*/ 5971079 w 6088698"/>
              <a:gd name="connsiteY16" fmla="*/ 1503278 h 6858002"/>
              <a:gd name="connsiteX17" fmla="*/ 5993538 w 6088698"/>
              <a:gd name="connsiteY17" fmla="*/ 1719991 h 6858002"/>
              <a:gd name="connsiteX18" fmla="*/ 6013913 w 6088698"/>
              <a:gd name="connsiteY18" fmla="*/ 1949048 h 6858002"/>
              <a:gd name="connsiteX19" fmla="*/ 6033361 w 6088698"/>
              <a:gd name="connsiteY19" fmla="*/ 2187706 h 6858002"/>
              <a:gd name="connsiteX20" fmla="*/ 6051654 w 6088698"/>
              <a:gd name="connsiteY20" fmla="*/ 2436652 h 6858002"/>
              <a:gd name="connsiteX21" fmla="*/ 6058136 w 6088698"/>
              <a:gd name="connsiteY21" fmla="*/ 2564211 h 6858002"/>
              <a:gd name="connsiteX22" fmla="*/ 6065314 w 6088698"/>
              <a:gd name="connsiteY22" fmla="*/ 2694512 h 6858002"/>
              <a:gd name="connsiteX23" fmla="*/ 6072027 w 6088698"/>
              <a:gd name="connsiteY23" fmla="*/ 2826871 h 6858002"/>
              <a:gd name="connsiteX24" fmla="*/ 6076427 w 6088698"/>
              <a:gd name="connsiteY24" fmla="*/ 2959917 h 6858002"/>
              <a:gd name="connsiteX25" fmla="*/ 6080363 w 6088698"/>
              <a:gd name="connsiteY25" fmla="*/ 3095705 h 6858002"/>
              <a:gd name="connsiteX26" fmla="*/ 6084530 w 6088698"/>
              <a:gd name="connsiteY26" fmla="*/ 3232865 h 6858002"/>
              <a:gd name="connsiteX27" fmla="*/ 6087308 w 6088698"/>
              <a:gd name="connsiteY27" fmla="*/ 3372768 h 6858002"/>
              <a:gd name="connsiteX28" fmla="*/ 6087308 w 6088698"/>
              <a:gd name="connsiteY28" fmla="*/ 3514043 h 6858002"/>
              <a:gd name="connsiteX29" fmla="*/ 6088698 w 6088698"/>
              <a:gd name="connsiteY29" fmla="*/ 3656689 h 6858002"/>
              <a:gd name="connsiteX30" fmla="*/ 6087308 w 6088698"/>
              <a:gd name="connsiteY30" fmla="*/ 3800707 h 6858002"/>
              <a:gd name="connsiteX31" fmla="*/ 6084530 w 6088698"/>
              <a:gd name="connsiteY31" fmla="*/ 3946783 h 6858002"/>
              <a:gd name="connsiteX32" fmla="*/ 6081983 w 6088698"/>
              <a:gd name="connsiteY32" fmla="*/ 4092858 h 6858002"/>
              <a:gd name="connsiteX33" fmla="*/ 6076427 w 6088698"/>
              <a:gd name="connsiteY33" fmla="*/ 4240991 h 6858002"/>
              <a:gd name="connsiteX34" fmla="*/ 6070639 w 6088698"/>
              <a:gd name="connsiteY34" fmla="*/ 4390495 h 6858002"/>
              <a:gd name="connsiteX35" fmla="*/ 6063924 w 6088698"/>
              <a:gd name="connsiteY35" fmla="*/ 4540000 h 6858002"/>
              <a:gd name="connsiteX36" fmla="*/ 6054432 w 6088698"/>
              <a:gd name="connsiteY36" fmla="*/ 4690876 h 6858002"/>
              <a:gd name="connsiteX37" fmla="*/ 6043086 w 6088698"/>
              <a:gd name="connsiteY37" fmla="*/ 4843123 h 6858002"/>
              <a:gd name="connsiteX38" fmla="*/ 6032204 w 6088698"/>
              <a:gd name="connsiteY38" fmla="*/ 4996057 h 6858002"/>
              <a:gd name="connsiteX39" fmla="*/ 6018313 w 6088698"/>
              <a:gd name="connsiteY39" fmla="*/ 5148990 h 6858002"/>
              <a:gd name="connsiteX40" fmla="*/ 6001642 w 6088698"/>
              <a:gd name="connsiteY40" fmla="*/ 5303981 h 6858002"/>
              <a:gd name="connsiteX41" fmla="*/ 5984972 w 6088698"/>
              <a:gd name="connsiteY41" fmla="*/ 5456914 h 6858002"/>
              <a:gd name="connsiteX42" fmla="*/ 5965754 w 6088698"/>
              <a:gd name="connsiteY42" fmla="*/ 5612591 h 6858002"/>
              <a:gd name="connsiteX43" fmla="*/ 5944685 w 6088698"/>
              <a:gd name="connsiteY43" fmla="*/ 5768953 h 6858002"/>
              <a:gd name="connsiteX44" fmla="*/ 5922459 w 6088698"/>
              <a:gd name="connsiteY44" fmla="*/ 5923258 h 6858002"/>
              <a:gd name="connsiteX45" fmla="*/ 5896527 w 6088698"/>
              <a:gd name="connsiteY45" fmla="*/ 6079621 h 6858002"/>
              <a:gd name="connsiteX46" fmla="*/ 5868743 w 6088698"/>
              <a:gd name="connsiteY46" fmla="*/ 6235297 h 6858002"/>
              <a:gd name="connsiteX47" fmla="*/ 5841190 w 6088698"/>
              <a:gd name="connsiteY47" fmla="*/ 6391660 h 6858002"/>
              <a:gd name="connsiteX48" fmla="*/ 5809008 w 6088698"/>
              <a:gd name="connsiteY48" fmla="*/ 6547336 h 6858002"/>
              <a:gd name="connsiteX49" fmla="*/ 5776130 w 6088698"/>
              <a:gd name="connsiteY49" fmla="*/ 6702327 h 6858002"/>
              <a:gd name="connsiteX50" fmla="*/ 5741633 w 6088698"/>
              <a:gd name="connsiteY50" fmla="*/ 6858002 h 6858002"/>
              <a:gd name="connsiteX51" fmla="*/ 2610464 w 6088698"/>
              <a:gd name="connsiteY51" fmla="*/ 6858002 h 6858002"/>
              <a:gd name="connsiteX52" fmla="*/ 0 w 6088698"/>
              <a:gd name="connsiteY52" fmla="*/ 6858002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088698" h="6858002">
                <a:moveTo>
                  <a:pt x="0" y="0"/>
                </a:moveTo>
                <a:lnTo>
                  <a:pt x="2610464" y="0"/>
                </a:lnTo>
                <a:lnTo>
                  <a:pt x="2610464" y="3"/>
                </a:lnTo>
                <a:lnTo>
                  <a:pt x="5749313" y="3"/>
                </a:lnTo>
                <a:lnTo>
                  <a:pt x="5749313" y="4"/>
                </a:lnTo>
                <a:lnTo>
                  <a:pt x="5740011" y="4"/>
                </a:lnTo>
                <a:lnTo>
                  <a:pt x="5748114" y="40466"/>
                </a:lnTo>
                <a:lnTo>
                  <a:pt x="5771963" y="159110"/>
                </a:lnTo>
                <a:lnTo>
                  <a:pt x="5788633" y="245521"/>
                </a:lnTo>
                <a:lnTo>
                  <a:pt x="5806229" y="348391"/>
                </a:lnTo>
                <a:lnTo>
                  <a:pt x="5827299" y="470463"/>
                </a:lnTo>
                <a:lnTo>
                  <a:pt x="5849526" y="605566"/>
                </a:lnTo>
                <a:lnTo>
                  <a:pt x="5872911" y="757813"/>
                </a:lnTo>
                <a:lnTo>
                  <a:pt x="5897684" y="923777"/>
                </a:lnTo>
                <a:lnTo>
                  <a:pt x="5922459" y="1104142"/>
                </a:lnTo>
                <a:lnTo>
                  <a:pt x="5947695" y="1296166"/>
                </a:lnTo>
                <a:lnTo>
                  <a:pt x="5971079" y="1503278"/>
                </a:lnTo>
                <a:lnTo>
                  <a:pt x="5993538" y="1719991"/>
                </a:lnTo>
                <a:lnTo>
                  <a:pt x="6013913" y="1949048"/>
                </a:lnTo>
                <a:lnTo>
                  <a:pt x="6033361" y="2187706"/>
                </a:lnTo>
                <a:lnTo>
                  <a:pt x="6051654" y="2436652"/>
                </a:lnTo>
                <a:lnTo>
                  <a:pt x="6058136" y="2564211"/>
                </a:lnTo>
                <a:lnTo>
                  <a:pt x="6065314" y="2694512"/>
                </a:lnTo>
                <a:lnTo>
                  <a:pt x="6072027" y="2826871"/>
                </a:lnTo>
                <a:lnTo>
                  <a:pt x="6076427" y="2959917"/>
                </a:lnTo>
                <a:lnTo>
                  <a:pt x="6080363" y="3095705"/>
                </a:lnTo>
                <a:lnTo>
                  <a:pt x="6084530" y="3232865"/>
                </a:lnTo>
                <a:lnTo>
                  <a:pt x="6087308" y="3372768"/>
                </a:lnTo>
                <a:lnTo>
                  <a:pt x="6087308" y="3514043"/>
                </a:lnTo>
                <a:lnTo>
                  <a:pt x="6088698" y="3656689"/>
                </a:lnTo>
                <a:lnTo>
                  <a:pt x="6087308" y="3800707"/>
                </a:lnTo>
                <a:lnTo>
                  <a:pt x="6084530" y="3946783"/>
                </a:lnTo>
                <a:lnTo>
                  <a:pt x="6081983" y="4092858"/>
                </a:lnTo>
                <a:lnTo>
                  <a:pt x="6076427" y="4240991"/>
                </a:lnTo>
                <a:lnTo>
                  <a:pt x="6070639" y="4390495"/>
                </a:lnTo>
                <a:lnTo>
                  <a:pt x="6063924" y="4540000"/>
                </a:lnTo>
                <a:lnTo>
                  <a:pt x="6054432" y="4690876"/>
                </a:lnTo>
                <a:lnTo>
                  <a:pt x="6043086" y="4843123"/>
                </a:lnTo>
                <a:lnTo>
                  <a:pt x="6032204" y="4996057"/>
                </a:lnTo>
                <a:lnTo>
                  <a:pt x="6018313" y="5148990"/>
                </a:lnTo>
                <a:lnTo>
                  <a:pt x="6001642" y="5303981"/>
                </a:lnTo>
                <a:lnTo>
                  <a:pt x="5984972" y="5456914"/>
                </a:lnTo>
                <a:lnTo>
                  <a:pt x="5965754" y="5612591"/>
                </a:lnTo>
                <a:lnTo>
                  <a:pt x="5944685" y="5768953"/>
                </a:lnTo>
                <a:lnTo>
                  <a:pt x="5922459" y="5923258"/>
                </a:lnTo>
                <a:lnTo>
                  <a:pt x="5896527" y="6079621"/>
                </a:lnTo>
                <a:lnTo>
                  <a:pt x="5868743" y="6235297"/>
                </a:lnTo>
                <a:lnTo>
                  <a:pt x="5841190" y="6391660"/>
                </a:lnTo>
                <a:lnTo>
                  <a:pt x="5809008" y="6547336"/>
                </a:lnTo>
                <a:lnTo>
                  <a:pt x="5776130" y="6702327"/>
                </a:lnTo>
                <a:lnTo>
                  <a:pt x="5741633" y="6858002"/>
                </a:lnTo>
                <a:lnTo>
                  <a:pt x="2610464" y="6858002"/>
                </a:lnTo>
                <a:lnTo>
                  <a:pt x="0" y="6858002"/>
                </a:lnTo>
                <a:close/>
              </a:path>
            </a:pathLst>
          </a:custGeom>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BCD6D14-4375-C2C6-EB8A-B2748764498C}"/>
              </a:ext>
            </a:extLst>
          </p:cNvPr>
          <p:cNvSpPr>
            <a:spLocks noGrp="1"/>
          </p:cNvSpPr>
          <p:nvPr>
            <p:ph type="title"/>
          </p:nvPr>
        </p:nvSpPr>
        <p:spPr>
          <a:xfrm>
            <a:off x="900506" y="1118808"/>
            <a:ext cx="4671467" cy="4747683"/>
          </a:xfrm>
        </p:spPr>
        <p:txBody>
          <a:bodyPr anchor="ctr">
            <a:normAutofit/>
          </a:bodyPr>
          <a:lstStyle/>
          <a:p>
            <a:pPr algn="l"/>
            <a:r>
              <a:rPr lang="en-IN" sz="4800"/>
              <a:t>References</a:t>
            </a:r>
          </a:p>
        </p:txBody>
      </p:sp>
      <p:sp>
        <p:nvSpPr>
          <p:cNvPr id="3" name="Content Placeholder 2">
            <a:extLst>
              <a:ext uri="{FF2B5EF4-FFF2-40B4-BE49-F238E27FC236}">
                <a16:creationId xmlns:a16="http://schemas.microsoft.com/office/drawing/2014/main" id="{2BE6E4AD-7359-BEEA-DD28-D2368C8C11B0}"/>
              </a:ext>
            </a:extLst>
          </p:cNvPr>
          <p:cNvSpPr>
            <a:spLocks noGrp="1"/>
          </p:cNvSpPr>
          <p:nvPr>
            <p:ph idx="1"/>
          </p:nvPr>
        </p:nvSpPr>
        <p:spPr>
          <a:xfrm>
            <a:off x="6498769" y="1118809"/>
            <a:ext cx="5049763" cy="4747681"/>
          </a:xfrm>
          <a:effectLst/>
        </p:spPr>
        <p:txBody>
          <a:bodyPr anchor="ctr">
            <a:normAutofit/>
          </a:bodyPr>
          <a:lstStyle/>
          <a:p>
            <a:pPr marL="0" marR="0" lvl="0" indent="0" defTabSz="914400" rtl="0" eaLnBrk="0" fontAlgn="base" latinLnBrk="0" hangingPunct="0">
              <a:lnSpc>
                <a:spcPct val="90000"/>
              </a:lnSpc>
              <a:spcBef>
                <a:spcPct val="0"/>
              </a:spcBef>
              <a:buClrTx/>
              <a:buSzTx/>
              <a:buFontTx/>
              <a:buChar char="•"/>
              <a:tabLst/>
            </a:pPr>
            <a:r>
              <a:rPr kumimoji="0" lang="en-US" altLang="en-US" sz="1300" b="0" i="0" u="none" strike="noStrike" cap="none" normalizeH="0" baseline="0" dirty="0" err="1">
                <a:ln>
                  <a:noFill/>
                </a:ln>
                <a:solidFill>
                  <a:schemeClr val="tx1"/>
                </a:solidFill>
                <a:effectLst/>
                <a:latin typeface="Arial" panose="020B0604020202020204" pitchFamily="34" charset="0"/>
              </a:rPr>
              <a:t>Afchar</a:t>
            </a:r>
            <a:r>
              <a:rPr kumimoji="0" lang="en-US" altLang="en-US" sz="1300" b="0" i="0" u="none" strike="noStrike" cap="none" normalizeH="0" baseline="0" dirty="0">
                <a:ln>
                  <a:noFill/>
                </a:ln>
                <a:solidFill>
                  <a:schemeClr val="tx1"/>
                </a:solidFill>
                <a:effectLst/>
                <a:latin typeface="Arial" panose="020B0604020202020204" pitchFamily="34" charset="0"/>
              </a:rPr>
              <a:t>, D., Nozick, V., Yamagishi, J., &amp; Echizen, I. (2018). </a:t>
            </a:r>
            <a:r>
              <a:rPr kumimoji="0" lang="en-US" altLang="en-US" sz="1300" b="0" i="1" u="none" strike="noStrike" cap="none" normalizeH="0" baseline="0" dirty="0" err="1">
                <a:ln>
                  <a:noFill/>
                </a:ln>
                <a:solidFill>
                  <a:schemeClr val="tx1"/>
                </a:solidFill>
                <a:effectLst/>
                <a:latin typeface="Arial" panose="020B0604020202020204" pitchFamily="34" charset="0"/>
              </a:rPr>
              <a:t>MesoNet</a:t>
            </a:r>
            <a:r>
              <a:rPr kumimoji="0" lang="en-US" altLang="en-US" sz="1300" b="0" i="1" u="none" strike="noStrike" cap="none" normalizeH="0" baseline="0" dirty="0">
                <a:ln>
                  <a:noFill/>
                </a:ln>
                <a:solidFill>
                  <a:schemeClr val="tx1"/>
                </a:solidFill>
                <a:effectLst/>
                <a:latin typeface="Arial" panose="020B0604020202020204" pitchFamily="34" charset="0"/>
              </a:rPr>
              <a:t>: A Compact Facial Video Forgery Detection Network.</a:t>
            </a:r>
            <a:r>
              <a:rPr kumimoji="0" lang="en-US" altLang="en-US" sz="1300" b="0" i="0" u="none" strike="noStrike" cap="none" normalizeH="0" baseline="0" dirty="0">
                <a:ln>
                  <a:noFill/>
                </a:ln>
                <a:solidFill>
                  <a:schemeClr val="tx1"/>
                </a:solidFill>
                <a:effectLst/>
                <a:latin typeface="Arial" panose="020B0604020202020204" pitchFamily="34" charset="0"/>
              </a:rPr>
              <a:t> IEEE International Workshop on Information Forensics and Security (WIFS).</a:t>
            </a:r>
          </a:p>
          <a:p>
            <a:pPr marL="0" marR="0" lvl="0" indent="0" defTabSz="914400" rtl="0" eaLnBrk="0" fontAlgn="base" latinLnBrk="0" hangingPunct="0">
              <a:lnSpc>
                <a:spcPct val="90000"/>
              </a:lnSpc>
              <a:spcBef>
                <a:spcPct val="0"/>
              </a:spcBef>
              <a:buClrTx/>
              <a:buSzTx/>
              <a:buFontTx/>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Du, M., Jia, R., &amp; Song, D. (2019). </a:t>
            </a:r>
            <a:r>
              <a:rPr kumimoji="0" lang="en-US" altLang="en-US" sz="1300" b="0" i="1" u="none" strike="noStrike" cap="none" normalizeH="0" baseline="0" dirty="0">
                <a:ln>
                  <a:noFill/>
                </a:ln>
                <a:solidFill>
                  <a:schemeClr val="tx1"/>
                </a:solidFill>
                <a:effectLst/>
                <a:latin typeface="Arial" panose="020B0604020202020204" pitchFamily="34" charset="0"/>
              </a:rPr>
              <a:t>Towards Generalization of Deepfake Detection via Locality-Aware Autoencoder.</a:t>
            </a:r>
            <a:r>
              <a:rPr kumimoji="0" lang="en-US" altLang="en-US" sz="1300" b="0" i="0" u="none" strike="noStrike" cap="none" normalizeH="0" baseline="0" dirty="0">
                <a:ln>
                  <a:noFill/>
                </a:ln>
                <a:solidFill>
                  <a:schemeClr val="tx1"/>
                </a:solidFill>
                <a:effectLst/>
                <a:latin typeface="Arial" panose="020B0604020202020204" pitchFamily="34" charset="0"/>
              </a:rPr>
              <a:t> </a:t>
            </a:r>
            <a:r>
              <a:rPr kumimoji="0" lang="en-US" altLang="en-US" sz="1300" b="0" i="0" u="none" strike="noStrike" cap="none" normalizeH="0" baseline="0" dirty="0" err="1">
                <a:ln>
                  <a:noFill/>
                </a:ln>
                <a:solidFill>
                  <a:schemeClr val="tx1"/>
                </a:solidFill>
                <a:effectLst/>
                <a:latin typeface="Arial" panose="020B0604020202020204" pitchFamily="34" charset="0"/>
              </a:rPr>
              <a:t>arXiv</a:t>
            </a:r>
            <a:r>
              <a:rPr kumimoji="0" lang="en-US" altLang="en-US" sz="1300" b="0" i="0" u="none" strike="noStrike" cap="none" normalizeH="0" baseline="0" dirty="0">
                <a:ln>
                  <a:noFill/>
                </a:ln>
                <a:solidFill>
                  <a:schemeClr val="tx1"/>
                </a:solidFill>
                <a:effectLst/>
                <a:latin typeface="Arial" panose="020B0604020202020204" pitchFamily="34" charset="0"/>
              </a:rPr>
              <a:t> preprint arXiv:1910.09154.</a:t>
            </a:r>
          </a:p>
          <a:p>
            <a:pPr marL="0" marR="0" lvl="0" indent="0" defTabSz="914400" rtl="0" eaLnBrk="0" fontAlgn="base" latinLnBrk="0" hangingPunct="0">
              <a:lnSpc>
                <a:spcPct val="90000"/>
              </a:lnSpc>
              <a:spcBef>
                <a:spcPct val="0"/>
              </a:spcBef>
              <a:buClrTx/>
              <a:buSzTx/>
              <a:buFontTx/>
              <a:buChar char="•"/>
              <a:tabLst/>
            </a:pPr>
            <a:r>
              <a:rPr kumimoji="0" lang="en-US" altLang="en-US" sz="1300" b="0" i="0" u="none" strike="noStrike" cap="none" normalizeH="0" baseline="0" dirty="0" err="1">
                <a:ln>
                  <a:noFill/>
                </a:ln>
                <a:solidFill>
                  <a:schemeClr val="tx1"/>
                </a:solidFill>
                <a:effectLst/>
                <a:latin typeface="Arial" panose="020B0604020202020204" pitchFamily="34" charset="0"/>
              </a:rPr>
              <a:t>Jevnisek</a:t>
            </a:r>
            <a:r>
              <a:rPr kumimoji="0" lang="en-US" altLang="en-US" sz="1300" b="0" i="0" u="none" strike="noStrike" cap="none" normalizeH="0" baseline="0" dirty="0">
                <a:ln>
                  <a:noFill/>
                </a:ln>
                <a:solidFill>
                  <a:schemeClr val="tx1"/>
                </a:solidFill>
                <a:effectLst/>
                <a:latin typeface="Arial" panose="020B0604020202020204" pitchFamily="34" charset="0"/>
              </a:rPr>
              <a:t>, R., &amp; Avidan, S. (2022). </a:t>
            </a:r>
            <a:r>
              <a:rPr kumimoji="0" lang="en-US" altLang="en-US" sz="1300" b="0" i="1" u="none" strike="noStrike" cap="none" normalizeH="0" baseline="0" dirty="0">
                <a:ln>
                  <a:noFill/>
                </a:ln>
                <a:solidFill>
                  <a:schemeClr val="tx1"/>
                </a:solidFill>
                <a:effectLst/>
                <a:latin typeface="Arial" panose="020B0604020202020204" pitchFamily="34" charset="0"/>
              </a:rPr>
              <a:t>Deepfake Detection by Aggregating Per-Layer Features.</a:t>
            </a:r>
            <a:r>
              <a:rPr kumimoji="0" lang="en-US" altLang="en-US" sz="1300" b="0" i="0" u="none" strike="noStrike" cap="none" normalizeH="0" baseline="0" dirty="0">
                <a:ln>
                  <a:noFill/>
                </a:ln>
                <a:solidFill>
                  <a:schemeClr val="tx1"/>
                </a:solidFill>
                <a:effectLst/>
                <a:latin typeface="Arial" panose="020B0604020202020204" pitchFamily="34" charset="0"/>
              </a:rPr>
              <a:t> Proceedings of the IEEE/CVF Conference on Computer Vision and Pattern Recognition.</a:t>
            </a:r>
          </a:p>
          <a:p>
            <a:pPr marL="0" marR="0" lvl="0" indent="0" defTabSz="914400" rtl="0" eaLnBrk="0" fontAlgn="base" latinLnBrk="0" hangingPunct="0">
              <a:lnSpc>
                <a:spcPct val="90000"/>
              </a:lnSpc>
              <a:spcBef>
                <a:spcPct val="0"/>
              </a:spcBef>
              <a:buClrTx/>
              <a:buSzTx/>
              <a:buFontTx/>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Korshunov, P., &amp; Marcel, S. (2020). </a:t>
            </a:r>
            <a:r>
              <a:rPr kumimoji="0" lang="en-US" altLang="en-US" sz="1300" b="0" i="1" u="none" strike="noStrike" cap="none" normalizeH="0" baseline="0" dirty="0">
                <a:ln>
                  <a:noFill/>
                </a:ln>
                <a:solidFill>
                  <a:schemeClr val="tx1"/>
                </a:solidFill>
                <a:effectLst/>
                <a:latin typeface="Arial" panose="020B0604020202020204" pitchFamily="34" charset="0"/>
              </a:rPr>
              <a:t>Deepfake Detection: Humans vs. Machines.</a:t>
            </a:r>
            <a:r>
              <a:rPr kumimoji="0" lang="en-US" altLang="en-US" sz="1300" b="0" i="0" u="none" strike="noStrike" cap="none" normalizeH="0" baseline="0" dirty="0">
                <a:ln>
                  <a:noFill/>
                </a:ln>
                <a:solidFill>
                  <a:schemeClr val="tx1"/>
                </a:solidFill>
                <a:effectLst/>
                <a:latin typeface="Arial" panose="020B0604020202020204" pitchFamily="34" charset="0"/>
              </a:rPr>
              <a:t> Proceedings of the European Signal Processing Conference (EUSIPCO).</a:t>
            </a:r>
          </a:p>
          <a:p>
            <a:pPr marL="0" marR="0" lvl="0" indent="0" defTabSz="914400" rtl="0" eaLnBrk="0" fontAlgn="base" latinLnBrk="0" hangingPunct="0">
              <a:lnSpc>
                <a:spcPct val="90000"/>
              </a:lnSpc>
              <a:spcBef>
                <a:spcPct val="0"/>
              </a:spcBef>
              <a:buClrTx/>
              <a:buSzTx/>
              <a:buFontTx/>
              <a:buChar char="•"/>
              <a:tabLst/>
            </a:pPr>
            <a:r>
              <a:rPr kumimoji="0" lang="en-US" altLang="en-US" sz="1300" b="0" i="0" u="none" strike="noStrike" cap="none" normalizeH="0" baseline="0" dirty="0" err="1">
                <a:ln>
                  <a:noFill/>
                </a:ln>
                <a:solidFill>
                  <a:schemeClr val="tx1"/>
                </a:solidFill>
                <a:effectLst/>
                <a:latin typeface="Arial" panose="020B0604020202020204" pitchFamily="34" charset="0"/>
              </a:rPr>
              <a:t>Verdoliva</a:t>
            </a:r>
            <a:r>
              <a:rPr kumimoji="0" lang="en-US" altLang="en-US" sz="1300" b="0" i="0" u="none" strike="noStrike" cap="none" normalizeH="0" baseline="0" dirty="0">
                <a:ln>
                  <a:noFill/>
                </a:ln>
                <a:solidFill>
                  <a:schemeClr val="tx1"/>
                </a:solidFill>
                <a:effectLst/>
                <a:latin typeface="Arial" panose="020B0604020202020204" pitchFamily="34" charset="0"/>
              </a:rPr>
              <a:t>, L. (2020). </a:t>
            </a:r>
            <a:r>
              <a:rPr kumimoji="0" lang="en-US" altLang="en-US" sz="1300" b="0" i="1" u="none" strike="noStrike" cap="none" normalizeH="0" baseline="0" dirty="0">
                <a:ln>
                  <a:noFill/>
                </a:ln>
                <a:solidFill>
                  <a:schemeClr val="tx1"/>
                </a:solidFill>
                <a:effectLst/>
                <a:latin typeface="Arial" panose="020B0604020202020204" pitchFamily="34" charset="0"/>
              </a:rPr>
              <a:t>Media Forensics and </a:t>
            </a:r>
            <a:r>
              <a:rPr kumimoji="0" lang="en-US" altLang="en-US" sz="1300" b="0" i="1" u="none" strike="noStrike" cap="none" normalizeH="0" baseline="0" dirty="0" err="1">
                <a:ln>
                  <a:noFill/>
                </a:ln>
                <a:solidFill>
                  <a:schemeClr val="tx1"/>
                </a:solidFill>
                <a:effectLst/>
                <a:latin typeface="Arial" panose="020B0604020202020204" pitchFamily="34" charset="0"/>
              </a:rPr>
              <a:t>DeepFakes</a:t>
            </a:r>
            <a:r>
              <a:rPr kumimoji="0" lang="en-US" altLang="en-US" sz="1300" b="0" i="1" u="none" strike="noStrike" cap="none" normalizeH="0" baseline="0" dirty="0">
                <a:ln>
                  <a:noFill/>
                </a:ln>
                <a:solidFill>
                  <a:schemeClr val="tx1"/>
                </a:solidFill>
                <a:effectLst/>
                <a:latin typeface="Arial" panose="020B0604020202020204" pitchFamily="34" charset="0"/>
              </a:rPr>
              <a:t>: An Overview.</a:t>
            </a:r>
            <a:r>
              <a:rPr kumimoji="0" lang="en-US" altLang="en-US" sz="1300" b="0" i="0" u="none" strike="noStrike" cap="none" normalizeH="0" baseline="0" dirty="0">
                <a:ln>
                  <a:noFill/>
                </a:ln>
                <a:solidFill>
                  <a:schemeClr val="tx1"/>
                </a:solidFill>
                <a:effectLst/>
                <a:latin typeface="Arial" panose="020B0604020202020204" pitchFamily="34" charset="0"/>
              </a:rPr>
              <a:t> IEEE Journal of Selected Topics in Signal Processing.</a:t>
            </a:r>
          </a:p>
          <a:p>
            <a:pPr marL="0" marR="0" lvl="0" indent="0" defTabSz="914400" rtl="0" eaLnBrk="0" fontAlgn="base" latinLnBrk="0" hangingPunct="0">
              <a:lnSpc>
                <a:spcPct val="90000"/>
              </a:lnSpc>
              <a:spcBef>
                <a:spcPct val="0"/>
              </a:spcBef>
              <a:buClrTx/>
              <a:buSzTx/>
              <a:buFontTx/>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Kaggle. (2020). </a:t>
            </a:r>
            <a:r>
              <a:rPr kumimoji="0" lang="en-US" altLang="en-US" sz="1300" b="0" i="1" u="none" strike="noStrike" cap="none" normalizeH="0" baseline="0" dirty="0">
                <a:ln>
                  <a:noFill/>
                </a:ln>
                <a:solidFill>
                  <a:schemeClr val="tx1"/>
                </a:solidFill>
                <a:effectLst/>
                <a:latin typeface="Arial" panose="020B0604020202020204" pitchFamily="34" charset="0"/>
              </a:rPr>
              <a:t>140K Real and Fake Faces Dataset.</a:t>
            </a:r>
            <a:r>
              <a:rPr kumimoji="0" lang="en-US" altLang="en-US" sz="1300" b="0" i="0" u="none" strike="noStrike" cap="none" normalizeH="0" baseline="0" dirty="0">
                <a:ln>
                  <a:noFill/>
                </a:ln>
                <a:solidFill>
                  <a:schemeClr val="tx1"/>
                </a:solidFill>
                <a:effectLst/>
                <a:latin typeface="Arial" panose="020B0604020202020204" pitchFamily="34" charset="0"/>
              </a:rPr>
              <a:t> Retrieved from </a:t>
            </a:r>
            <a:r>
              <a:rPr kumimoji="0" lang="en-US" altLang="en-US" sz="1300" b="0" i="0" u="none" strike="noStrike" cap="none" normalizeH="0" baseline="0" dirty="0">
                <a:ln>
                  <a:noFill/>
                </a:ln>
                <a:solidFill>
                  <a:schemeClr val="tx1"/>
                </a:solidFill>
                <a:effectLst/>
                <a:latin typeface="Arial" panose="020B0604020202020204" pitchFamily="34" charset="0"/>
                <a:hlinkClick r:id="rId3"/>
              </a:rPr>
              <a:t>https://www.kaggle.com/datasets/xhlulu/140k-real-and-fake-faces</a:t>
            </a:r>
            <a:endParaRPr kumimoji="0" lang="en-US" altLang="en-US" sz="13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90000"/>
              </a:lnSpc>
              <a:spcBef>
                <a:spcPct val="0"/>
              </a:spcBef>
              <a:buClrTx/>
              <a:buSzTx/>
              <a:buFontTx/>
              <a:buChar char="•"/>
              <a:tabLst/>
            </a:pPr>
            <a:r>
              <a:rPr kumimoji="0" lang="en-US" altLang="en-US" sz="1300" b="0" i="0" u="none" strike="noStrike" cap="none" normalizeH="0" baseline="0" dirty="0">
                <a:ln>
                  <a:noFill/>
                </a:ln>
                <a:solidFill>
                  <a:schemeClr val="tx1"/>
                </a:solidFill>
                <a:effectLst/>
                <a:latin typeface="Arial" panose="020B0604020202020204" pitchFamily="34" charset="0"/>
              </a:rPr>
              <a:t>Chollet, F. (2015). </a:t>
            </a:r>
            <a:r>
              <a:rPr kumimoji="0" lang="en-US" altLang="en-US" sz="1300" b="0" i="1" u="none" strike="noStrike" cap="none" normalizeH="0" baseline="0" dirty="0" err="1">
                <a:ln>
                  <a:noFill/>
                </a:ln>
                <a:solidFill>
                  <a:schemeClr val="tx1"/>
                </a:solidFill>
                <a:effectLst/>
                <a:latin typeface="Arial" panose="020B0604020202020204" pitchFamily="34" charset="0"/>
              </a:rPr>
              <a:t>Keras</a:t>
            </a:r>
            <a:r>
              <a:rPr kumimoji="0" lang="en-US" altLang="en-US" sz="1300" b="0" i="1" u="none" strike="noStrike" cap="none" normalizeH="0" baseline="0" dirty="0">
                <a:ln>
                  <a:noFill/>
                </a:ln>
                <a:solidFill>
                  <a:schemeClr val="tx1"/>
                </a:solidFill>
                <a:effectLst/>
                <a:latin typeface="Arial" panose="020B0604020202020204" pitchFamily="34" charset="0"/>
              </a:rPr>
              <a:t>: The Python Deep Learning Library.</a:t>
            </a:r>
            <a:r>
              <a:rPr kumimoji="0" lang="en-US" altLang="en-US" sz="1300" b="0" i="0" u="none" strike="noStrike" cap="none" normalizeH="0" baseline="0" dirty="0">
                <a:ln>
                  <a:noFill/>
                </a:ln>
                <a:solidFill>
                  <a:schemeClr val="tx1"/>
                </a:solidFill>
                <a:effectLst/>
                <a:latin typeface="Arial" panose="020B0604020202020204" pitchFamily="34" charset="0"/>
              </a:rPr>
              <a:t> </a:t>
            </a:r>
            <a:r>
              <a:rPr kumimoji="0" lang="en-US" altLang="en-US" sz="1300" b="0" i="0" u="none" strike="noStrike" cap="none" normalizeH="0" baseline="0" dirty="0">
                <a:ln>
                  <a:noFill/>
                </a:ln>
                <a:solidFill>
                  <a:schemeClr val="tx1"/>
                </a:solidFill>
                <a:effectLst/>
                <a:latin typeface="Arial" panose="020B0604020202020204" pitchFamily="34" charset="0"/>
                <a:hlinkClick r:id="rId4"/>
              </a:rPr>
              <a:t>https://keras.io</a:t>
            </a:r>
            <a:endParaRPr kumimoji="0" lang="en-US" altLang="en-US" sz="13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90000"/>
              </a:lnSpc>
              <a:spcBef>
                <a:spcPct val="0"/>
              </a:spcBef>
              <a:buClrTx/>
              <a:buSzTx/>
              <a:buFontTx/>
              <a:buChar char="•"/>
              <a:tabLst/>
            </a:pPr>
            <a:r>
              <a:rPr kumimoji="0" lang="en-US" altLang="en-US" sz="1300" b="0" i="0" u="none" strike="noStrike" cap="none" normalizeH="0" baseline="0" dirty="0" err="1">
                <a:ln>
                  <a:noFill/>
                </a:ln>
                <a:solidFill>
                  <a:schemeClr val="tx1"/>
                </a:solidFill>
                <a:effectLst/>
                <a:latin typeface="Arial" panose="020B0604020202020204" pitchFamily="34" charset="0"/>
              </a:rPr>
              <a:t>Bradski</a:t>
            </a:r>
            <a:r>
              <a:rPr kumimoji="0" lang="en-US" altLang="en-US" sz="1300" b="0" i="0" u="none" strike="noStrike" cap="none" normalizeH="0" baseline="0" dirty="0">
                <a:ln>
                  <a:noFill/>
                </a:ln>
                <a:solidFill>
                  <a:schemeClr val="tx1"/>
                </a:solidFill>
                <a:effectLst/>
                <a:latin typeface="Arial" panose="020B0604020202020204" pitchFamily="34" charset="0"/>
              </a:rPr>
              <a:t>, G. (2000). </a:t>
            </a:r>
            <a:r>
              <a:rPr kumimoji="0" lang="en-US" altLang="en-US" sz="1300" b="0" i="1" u="none" strike="noStrike" cap="none" normalizeH="0" baseline="0" dirty="0">
                <a:ln>
                  <a:noFill/>
                </a:ln>
                <a:solidFill>
                  <a:schemeClr val="tx1"/>
                </a:solidFill>
                <a:effectLst/>
                <a:latin typeface="Arial" panose="020B0604020202020204" pitchFamily="34" charset="0"/>
              </a:rPr>
              <a:t>OpenCV.</a:t>
            </a:r>
            <a:r>
              <a:rPr kumimoji="0" lang="en-US" altLang="en-US" sz="1300" b="0" i="0" u="none" strike="noStrike" cap="none" normalizeH="0" baseline="0" dirty="0">
                <a:ln>
                  <a:noFill/>
                </a:ln>
                <a:solidFill>
                  <a:schemeClr val="tx1"/>
                </a:solidFill>
                <a:effectLst/>
                <a:latin typeface="Arial" panose="020B0604020202020204" pitchFamily="34" charset="0"/>
              </a:rPr>
              <a:t> Dr. Dobb’s Journal of Software Tools.</a:t>
            </a:r>
          </a:p>
        </p:txBody>
      </p:sp>
    </p:spTree>
    <p:extLst>
      <p:ext uri="{BB962C8B-B14F-4D97-AF65-F5344CB8AC3E}">
        <p14:creationId xmlns:p14="http://schemas.microsoft.com/office/powerpoint/2010/main" val="1072116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208BD6-2A31-5677-2B53-FD39A887D102}"/>
              </a:ext>
            </a:extLst>
          </p:cNvPr>
          <p:cNvSpPr>
            <a:spLocks noGrp="1"/>
          </p:cNvSpPr>
          <p:nvPr>
            <p:ph type="title"/>
          </p:nvPr>
        </p:nvSpPr>
        <p:spPr>
          <a:xfrm>
            <a:off x="3624262" y="2847067"/>
            <a:ext cx="5257800" cy="1325563"/>
          </a:xfrm>
        </p:spPr>
        <p:txBody>
          <a:bodyPr/>
          <a:lstStyle/>
          <a:p>
            <a:r>
              <a:rPr lang="en-IN" dirty="0"/>
              <a:t>Thank You</a:t>
            </a:r>
          </a:p>
        </p:txBody>
      </p:sp>
    </p:spTree>
    <p:extLst>
      <p:ext uri="{BB962C8B-B14F-4D97-AF65-F5344CB8AC3E}">
        <p14:creationId xmlns:p14="http://schemas.microsoft.com/office/powerpoint/2010/main" val="2374710685"/>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Mesh</Template>
  <TotalTime>161</TotalTime>
  <Words>981</Words>
  <Application>Microsoft Office PowerPoint</Application>
  <PresentationFormat>Widescreen</PresentationFormat>
  <Paragraphs>89</Paragraphs>
  <Slides>20</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20</vt:i4>
      </vt:variant>
    </vt:vector>
  </HeadingPairs>
  <TitlesOfParts>
    <vt:vector size="28" baseType="lpstr">
      <vt:lpstr>Aptos</vt:lpstr>
      <vt:lpstr>Aptos Display</vt:lpstr>
      <vt:lpstr>Arial</vt:lpstr>
      <vt:lpstr>Calisto MT</vt:lpstr>
      <vt:lpstr>Wingdings</vt:lpstr>
      <vt:lpstr>Wingdings 2</vt:lpstr>
      <vt:lpstr>Office Theme</vt:lpstr>
      <vt:lpstr>Slate</vt:lpstr>
      <vt:lpstr>Detection Of Deepfakes Using OpenCV</vt:lpstr>
      <vt:lpstr>Outline</vt:lpstr>
      <vt:lpstr>Introduction</vt:lpstr>
      <vt:lpstr>Introduction </vt:lpstr>
      <vt:lpstr>Literature Review</vt:lpstr>
      <vt:lpstr>Literature Review</vt:lpstr>
      <vt:lpstr>Literature Review</vt:lpstr>
      <vt:lpstr>Problem Statement</vt:lpstr>
      <vt:lpstr>Objectives</vt:lpstr>
      <vt:lpstr>Proposed Methodology</vt:lpstr>
      <vt:lpstr>Dataset Description</vt:lpstr>
      <vt:lpstr>Model Architecture</vt:lpstr>
      <vt:lpstr>Training Procedure </vt:lpstr>
      <vt:lpstr>Testing Procedure</vt:lpstr>
      <vt:lpstr>Results (Confusion Matrix)</vt:lpstr>
      <vt:lpstr>Results (ROC Curve)</vt:lpstr>
      <vt:lpstr>Sample Predictions</vt:lpstr>
      <vt:lpstr>Outcome</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Akshay Jadhav [MU - Jaipur]</dc:creator>
  <cp:lastModifiedBy>[BTECH-005-2023-24] Vidur Gupta</cp:lastModifiedBy>
  <cp:revision>14</cp:revision>
  <dcterms:created xsi:type="dcterms:W3CDTF">2025-09-29T05:03:41Z</dcterms:created>
  <dcterms:modified xsi:type="dcterms:W3CDTF">2025-11-19T22:53:39Z</dcterms:modified>
</cp:coreProperties>
</file>